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96" r:id="rId5"/>
    <p:sldId id="309" r:id="rId6"/>
    <p:sldId id="297" r:id="rId7"/>
    <p:sldId id="298" r:id="rId8"/>
    <p:sldId id="310" r:id="rId9"/>
    <p:sldId id="300" r:id="rId10"/>
    <p:sldId id="301" r:id="rId11"/>
    <p:sldId id="302" r:id="rId12"/>
    <p:sldId id="304" r:id="rId13"/>
    <p:sldId id="303" r:id="rId14"/>
    <p:sldId id="305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1D9"/>
    <a:srgbClr val="339933"/>
    <a:srgbClr val="00974B"/>
    <a:srgbClr val="A0CC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7003A-E88C-4E18-992D-B087A0C084E7}" v="119" dt="2025-11-18T18:02:28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86449" autoAdjust="0"/>
  </p:normalViewPr>
  <p:slideViewPr>
    <p:cSldViewPr snapToGrid="0" snapToObjects="1">
      <p:cViewPr varScale="1">
        <p:scale>
          <a:sx n="88" d="100"/>
          <a:sy n="88" d="100"/>
        </p:scale>
        <p:origin x="114" y="510"/>
      </p:cViewPr>
      <p:guideLst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E6BFC-E069-BF44-9F67-1C355F99E13B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382FE-4691-A545-BD2F-E24BB0BFFF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7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788" y="1828799"/>
            <a:ext cx="7512424" cy="1761845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788" y="3682720"/>
            <a:ext cx="7512424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ion otsikko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0" y="952093"/>
            <a:ext cx="7495903" cy="285273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0" y="3831818"/>
            <a:ext cx="7495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402771" y="1860643"/>
            <a:ext cx="5460148" cy="10977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Vaatimattomasti</a:t>
            </a:r>
            <a:r>
              <a:rPr lang="en-US" dirty="0"/>
              <a:t> paras</a:t>
            </a:r>
          </a:p>
          <a:p>
            <a:r>
              <a:rPr lang="fi-FI" noProof="0" dirty="0">
                <a:solidFill>
                  <a:srgbClr val="00974B"/>
                </a:solidFill>
              </a:rPr>
              <a:t>elinympäristö.</a:t>
            </a:r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402771" y="1860643"/>
            <a:ext cx="5460148" cy="11963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Vaatimattomasti</a:t>
            </a:r>
            <a:r>
              <a:rPr lang="en-US" dirty="0"/>
              <a:t> paras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talous</a:t>
            </a:r>
            <a:r>
              <a:rPr lang="en-US" dirty="0">
                <a:solidFill>
                  <a:schemeClr val="accent5"/>
                </a:solidFill>
              </a:rPr>
              <a:t>.</a:t>
            </a:r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402771" y="1573260"/>
            <a:ext cx="5460148" cy="11251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Vaatimattomasti</a:t>
            </a:r>
            <a:r>
              <a:rPr lang="en-US" dirty="0">
                <a:solidFill>
                  <a:schemeClr val="bg1"/>
                </a:solidFill>
              </a:rPr>
              <a:t> paras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noProof="0" dirty="0">
                <a:solidFill>
                  <a:schemeClr val="accent2"/>
                </a:solidFill>
              </a:rPr>
              <a:t>elinkeinoelämän tuki.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1682931" y="1595719"/>
            <a:ext cx="5460148" cy="1099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Vaatimattomasti</a:t>
            </a:r>
            <a:r>
              <a:rPr lang="en-US" dirty="0">
                <a:solidFill>
                  <a:schemeClr val="bg1"/>
                </a:solidFill>
              </a:rPr>
              <a:t> paras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noProof="0" dirty="0">
                <a:solidFill>
                  <a:schemeClr val="accent4"/>
                </a:solidFill>
              </a:rPr>
              <a:t>palveluasenne.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585651" y="1372963"/>
            <a:ext cx="5460148" cy="1092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tx1"/>
                </a:solidFill>
              </a:rPr>
              <a:t>Vaatimattomasti</a:t>
            </a:r>
            <a:r>
              <a:rPr lang="en-US" dirty="0">
                <a:solidFill>
                  <a:schemeClr val="tx1"/>
                </a:solidFill>
              </a:rPr>
              <a:t> paras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noProof="0" dirty="0">
                <a:solidFill>
                  <a:schemeClr val="accent6"/>
                </a:solidFill>
              </a:rPr>
              <a:t>välittäminen.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itus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585651" y="1372963"/>
            <a:ext cx="5460148" cy="1253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tx1"/>
                </a:solidFill>
              </a:rPr>
              <a:t>Vaatimattomasti</a:t>
            </a:r>
            <a:r>
              <a:rPr lang="en-US" dirty="0">
                <a:solidFill>
                  <a:schemeClr val="tx1"/>
                </a:solidFill>
              </a:rPr>
              <a:t> paras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noProof="0" dirty="0">
                <a:solidFill>
                  <a:schemeClr val="tx2"/>
                </a:solidFill>
              </a:rPr>
              <a:t>Kangasala.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771" y="1825625"/>
            <a:ext cx="56170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495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771" y="365125"/>
            <a:ext cx="1147711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2" y="1681163"/>
            <a:ext cx="57977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772" y="2505075"/>
            <a:ext cx="57977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8699" y="1681163"/>
            <a:ext cx="53711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8699" y="2505075"/>
            <a:ext cx="53711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92F8D38-1D88-40FC-9B8D-33E109E7F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2771" y="1792941"/>
            <a:ext cx="11329519" cy="43478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776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27B5-43F4-5248-9383-66597D700702}" type="datetimeFigureOut">
              <a:rPr lang="en-GB" smtClean="0"/>
              <a:t>21/05/2026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75FF6-563C-454D-AA21-5BDCFEF64C6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771" y="365125"/>
            <a:ext cx="11318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771" y="1825625"/>
            <a:ext cx="113189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88878" y="6356350"/>
            <a:ext cx="138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27B5-43F4-5248-9383-66597D700702}" type="datetimeFigureOut">
              <a:rPr lang="en-GB" smtClean="0"/>
              <a:pPr/>
              <a:t>21/05/2026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1417" y="6356350"/>
            <a:ext cx="58249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2771" y="6356350"/>
            <a:ext cx="616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75FF6-563C-454D-AA21-5BDCFEF64C6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52" r:id="rId15"/>
    <p:sldLayoutId id="2147483653" r:id="rId16"/>
    <p:sldLayoutId id="2147483654" r:id="rId17"/>
    <p:sldLayoutId id="2147483671" r:id="rId18"/>
    <p:sldLayoutId id="2147483656" r:id="rId19"/>
    <p:sldLayoutId id="214748365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E1A4-F037-F289-43ED-9C6F1958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F788-432F-1079-FB7C-35215372C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788" y="1992429"/>
            <a:ext cx="7512424" cy="3795629"/>
          </a:xfrm>
        </p:spPr>
        <p:txBody>
          <a:bodyPr>
            <a:normAutofit/>
          </a:bodyPr>
          <a:lstStyle/>
          <a:p>
            <a:r>
              <a:rPr lang="en-GB" sz="3200" dirty="0" err="1"/>
              <a:t>Väestöennusteet</a:t>
            </a:r>
            <a:r>
              <a:rPr lang="en-GB" sz="3200" dirty="0"/>
              <a:t>– </a:t>
            </a:r>
            <a:br>
              <a:rPr lang="en-GB" sz="3200" dirty="0"/>
            </a:br>
            <a:r>
              <a:rPr lang="en-GB" sz="3200" dirty="0" err="1"/>
              <a:t>kunta</a:t>
            </a:r>
            <a:r>
              <a:rPr lang="en-GB" sz="3200" dirty="0"/>
              <a:t>- </a:t>
            </a:r>
            <a:r>
              <a:rPr lang="en-GB" sz="3200" dirty="0" err="1"/>
              <a:t>ja</a:t>
            </a:r>
            <a:r>
              <a:rPr lang="en-GB" sz="3200" dirty="0"/>
              <a:t> </a:t>
            </a:r>
            <a:r>
              <a:rPr lang="en-GB" sz="3200" dirty="0" err="1"/>
              <a:t>aluetaso</a:t>
            </a:r>
            <a:br>
              <a:rPr lang="en-GB" sz="3200" dirty="0"/>
            </a:br>
            <a:r>
              <a:rPr lang="en-GB" sz="3200" dirty="0" err="1"/>
              <a:t>ohjeita</a:t>
            </a:r>
            <a:br>
              <a:rPr lang="en-GB" sz="3200" dirty="0"/>
            </a:br>
            <a:br>
              <a:rPr lang="en-GB" sz="3200" dirty="0"/>
            </a:br>
            <a:r>
              <a:rPr lang="en-GB" sz="2400" b="0" dirty="0"/>
              <a:t>Huom. </a:t>
            </a:r>
            <a:r>
              <a:rPr lang="en-GB" sz="2400" b="0" dirty="0" err="1"/>
              <a:t>luvut</a:t>
            </a:r>
            <a:r>
              <a:rPr lang="en-GB" sz="2400" b="0" dirty="0"/>
              <a:t> </a:t>
            </a:r>
            <a:r>
              <a:rPr lang="en-GB" sz="2400" b="0" dirty="0" err="1"/>
              <a:t>ovat</a:t>
            </a:r>
            <a:r>
              <a:rPr lang="en-GB" sz="2400" b="0" dirty="0"/>
              <a:t> </a:t>
            </a:r>
            <a:r>
              <a:rPr lang="en-GB" sz="2400" b="0" dirty="0" err="1"/>
              <a:t>esimerkkilukuja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r>
              <a:rPr lang="en-GB" sz="2400" b="0" dirty="0"/>
              <a:t>18.11.2025</a:t>
            </a:r>
          </a:p>
        </p:txBody>
      </p:sp>
    </p:spTree>
    <p:extLst>
      <p:ext uri="{BB962C8B-B14F-4D97-AF65-F5344CB8AC3E}">
        <p14:creationId xmlns:p14="http://schemas.microsoft.com/office/powerpoint/2010/main" val="230570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0E0C-C3AF-CA6F-F1DF-D3257213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97BC5F-C82E-ABF6-9683-65E9EE356B69}"/>
              </a:ext>
            </a:extLst>
          </p:cNvPr>
          <p:cNvSpPr/>
          <p:nvPr/>
        </p:nvSpPr>
        <p:spPr>
          <a:xfrm>
            <a:off x="2944727" y="5362507"/>
            <a:ext cx="6345230" cy="14954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CAD0DC1-D8F6-881E-8CFB-F245E4FD5518}"/>
              </a:ext>
            </a:extLst>
          </p:cNvPr>
          <p:cNvSpPr/>
          <p:nvPr/>
        </p:nvSpPr>
        <p:spPr>
          <a:xfrm>
            <a:off x="6291515" y="809590"/>
            <a:ext cx="5114918" cy="4533392"/>
          </a:xfrm>
          <a:prstGeom prst="roundRect">
            <a:avLst/>
          </a:prstGeom>
          <a:solidFill>
            <a:srgbClr val="B38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C2812C-E09C-A085-FDC0-0B1A2F78FEF3}"/>
              </a:ext>
            </a:extLst>
          </p:cNvPr>
          <p:cNvSpPr/>
          <p:nvPr/>
        </p:nvSpPr>
        <p:spPr>
          <a:xfrm>
            <a:off x="2944727" y="484263"/>
            <a:ext cx="3096509" cy="47562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A2401BA-DC54-09A3-0658-72B35BD5B4F6}"/>
              </a:ext>
            </a:extLst>
          </p:cNvPr>
          <p:cNvSpPr/>
          <p:nvPr/>
        </p:nvSpPr>
        <p:spPr>
          <a:xfrm>
            <a:off x="162559" y="-1"/>
            <a:ext cx="2702573" cy="65211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B06D3BC-9688-8D23-06EF-D28269845D1E}"/>
              </a:ext>
            </a:extLst>
          </p:cNvPr>
          <p:cNvSpPr/>
          <p:nvPr/>
        </p:nvSpPr>
        <p:spPr>
          <a:xfrm>
            <a:off x="4748576" y="5468514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2047E16-93E5-BD78-5498-7421028DEDD6}"/>
              </a:ext>
            </a:extLst>
          </p:cNvPr>
          <p:cNvSpPr/>
          <p:nvPr/>
        </p:nvSpPr>
        <p:spPr>
          <a:xfrm>
            <a:off x="3267031" y="5468514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E8E711D0-C620-56E3-0D54-D9BBF730F673}"/>
              </a:ext>
            </a:extLst>
          </p:cNvPr>
          <p:cNvSpPr/>
          <p:nvPr/>
        </p:nvSpPr>
        <p:spPr>
          <a:xfrm>
            <a:off x="3227779" y="971251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CE8EC7E-B900-B418-12BE-02012FF119E4}"/>
              </a:ext>
            </a:extLst>
          </p:cNvPr>
          <p:cNvSpPr/>
          <p:nvPr/>
        </p:nvSpPr>
        <p:spPr>
          <a:xfrm>
            <a:off x="3227779" y="3815959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B6441F2-C3C1-247C-A781-1572BBBA5F89}"/>
              </a:ext>
            </a:extLst>
          </p:cNvPr>
          <p:cNvSpPr/>
          <p:nvPr/>
        </p:nvSpPr>
        <p:spPr>
          <a:xfrm>
            <a:off x="3227779" y="2387543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8CFC2CC-597E-2E95-4B3E-47694BF8B87B}"/>
              </a:ext>
            </a:extLst>
          </p:cNvPr>
          <p:cNvSpPr/>
          <p:nvPr/>
        </p:nvSpPr>
        <p:spPr>
          <a:xfrm>
            <a:off x="363875" y="4263010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DC70BC5F-585E-26BD-1BFD-B2645699FBB2}"/>
              </a:ext>
            </a:extLst>
          </p:cNvPr>
          <p:cNvSpPr/>
          <p:nvPr/>
        </p:nvSpPr>
        <p:spPr>
          <a:xfrm>
            <a:off x="360834" y="2905663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5BC5A83-CA6A-EB65-6DC4-64FEC2F72CFE}"/>
              </a:ext>
            </a:extLst>
          </p:cNvPr>
          <p:cNvSpPr/>
          <p:nvPr/>
        </p:nvSpPr>
        <p:spPr>
          <a:xfrm>
            <a:off x="360834" y="1534884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38B84A-6876-530A-A3C3-827844C2963D}"/>
              </a:ext>
            </a:extLst>
          </p:cNvPr>
          <p:cNvSpPr/>
          <p:nvPr/>
        </p:nvSpPr>
        <p:spPr>
          <a:xfrm>
            <a:off x="374320" y="176618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5E1DA-BFB8-2FFD-9F9A-A19F35835CF6}"/>
              </a:ext>
            </a:extLst>
          </p:cNvPr>
          <p:cNvSpPr txBox="1"/>
          <p:nvPr/>
        </p:nvSpPr>
        <p:spPr>
          <a:xfrm>
            <a:off x="366664" y="572267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Alueittainen_asuntotuotanto.xlsx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11CC1F-396E-4C39-8E51-2A0F4AF10722}"/>
              </a:ext>
            </a:extLst>
          </p:cNvPr>
          <p:cNvSpPr/>
          <p:nvPr/>
        </p:nvSpPr>
        <p:spPr>
          <a:xfrm>
            <a:off x="526820" y="994367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Vv1-Vv10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5E3084-58D6-2762-BFC9-4A66755A284C}"/>
              </a:ext>
            </a:extLst>
          </p:cNvPr>
          <p:cNvSpPr txBox="1"/>
          <p:nvPr/>
        </p:nvSpPr>
        <p:spPr>
          <a:xfrm>
            <a:off x="332027" y="3248411"/>
            <a:ext cx="1336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Jäljellejäämiskerroin.xlsx</a:t>
            </a:r>
          </a:p>
          <a:p>
            <a:pPr algn="ctr" fontAlgn="b"/>
            <a:r>
              <a:rPr lang="fi-FI" sz="800" dirty="0"/>
              <a:t>(0-99 vuotiaat)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E1D5E-C882-CB37-8881-EF1424392B8B}"/>
              </a:ext>
            </a:extLst>
          </p:cNvPr>
          <p:cNvSpPr txBox="1"/>
          <p:nvPr/>
        </p:nvSpPr>
        <p:spPr>
          <a:xfrm>
            <a:off x="324774" y="1894989"/>
            <a:ext cx="1389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Asuntotuotanto_parametrit.xlsx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DA1117-4C03-E49E-165C-7E9895562AD0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B832DE-2889-49FE-9920-BE995435F347}"/>
              </a:ext>
            </a:extLst>
          </p:cNvPr>
          <p:cNvSpPr/>
          <p:nvPr/>
        </p:nvSpPr>
        <p:spPr>
          <a:xfrm>
            <a:off x="1199832" y="243272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4C74CB-DD44-53E9-EFE3-7B0851F6EB37}"/>
              </a:ext>
            </a:extLst>
          </p:cNvPr>
          <p:cNvSpPr txBox="1"/>
          <p:nvPr/>
        </p:nvSpPr>
        <p:spPr>
          <a:xfrm>
            <a:off x="446133" y="4532648"/>
            <a:ext cx="1220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Ikäjakauma_rakennus.xlsx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D0DD1FA-87B5-975E-3BD8-2C22A4F0B054}"/>
              </a:ext>
            </a:extLst>
          </p:cNvPr>
          <p:cNvSpPr/>
          <p:nvPr/>
        </p:nvSpPr>
        <p:spPr>
          <a:xfrm>
            <a:off x="526821" y="1142937"/>
            <a:ext cx="933097" cy="12629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alue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4757B86D-1220-3B9A-A660-AB3B30EFCBA2}"/>
              </a:ext>
            </a:extLst>
          </p:cNvPr>
          <p:cNvSpPr/>
          <p:nvPr/>
        </p:nvSpPr>
        <p:spPr>
          <a:xfrm>
            <a:off x="526820" y="1294366"/>
            <a:ext cx="933098" cy="1227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Tyyppi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4E168E13-1764-BD61-5633-8FD9E0D8D3B7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061FD69-9133-0FFC-59E7-706AE228A516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179D1F6-6F4F-C4D5-CA6E-A06F4A844A04}"/>
              </a:ext>
            </a:extLst>
          </p:cNvPr>
          <p:cNvSpPr txBox="1"/>
          <p:nvPr/>
        </p:nvSpPr>
        <p:spPr>
          <a:xfrm>
            <a:off x="3227779" y="1517980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Vaesto_osa-alueittain_2025.xlsx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EF6196-2C08-4E10-9CF5-0D271EC79294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46DE0D8-65E9-8C78-FF76-2DE01567C635}"/>
              </a:ext>
            </a:extLst>
          </p:cNvPr>
          <p:cNvSpPr/>
          <p:nvPr/>
        </p:nvSpPr>
        <p:spPr>
          <a:xfrm>
            <a:off x="1143693" y="2986929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A8B2AB8-DBC9-C9BC-34C7-37BF1B848B58}"/>
              </a:ext>
            </a:extLst>
          </p:cNvPr>
          <p:cNvSpPr/>
          <p:nvPr/>
        </p:nvSpPr>
        <p:spPr>
          <a:xfrm>
            <a:off x="533131" y="2334625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Tyyppi</a:t>
            </a:r>
            <a:r>
              <a:rPr lang="en-GB" sz="800" dirty="0">
                <a:solidFill>
                  <a:schemeClr val="tx1"/>
                </a:solidFill>
              </a:rPr>
              <a:t> (</a:t>
            </a:r>
            <a:r>
              <a:rPr lang="en-GB" sz="800" dirty="0" err="1">
                <a:solidFill>
                  <a:schemeClr val="tx1"/>
                </a:solidFill>
              </a:rPr>
              <a:t>talo</a:t>
            </a:r>
            <a:r>
              <a:rPr lang="en-GB" sz="800" dirty="0">
                <a:solidFill>
                  <a:schemeClr val="tx1"/>
                </a:solidFill>
              </a:rPr>
              <a:t>)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43BA556-EB35-6972-1F03-98816E20CE1D}"/>
              </a:ext>
            </a:extLst>
          </p:cNvPr>
          <p:cNvSpPr/>
          <p:nvPr/>
        </p:nvSpPr>
        <p:spPr>
          <a:xfrm>
            <a:off x="526857" y="2477375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muuttotyyp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5E13E7D-9E5A-6382-68E5-54C55F374C8D}"/>
              </a:ext>
            </a:extLst>
          </p:cNvPr>
          <p:cNvSpPr/>
          <p:nvPr/>
        </p:nvSpPr>
        <p:spPr>
          <a:xfrm>
            <a:off x="1153437" y="1603946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B8B735F1-1983-EC75-ECB7-9DC867C7BDDE}"/>
              </a:ext>
            </a:extLst>
          </p:cNvPr>
          <p:cNvSpPr/>
          <p:nvPr/>
        </p:nvSpPr>
        <p:spPr>
          <a:xfrm>
            <a:off x="524068" y="3752631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Tyyppi</a:t>
            </a:r>
            <a:r>
              <a:rPr lang="en-GB" sz="800" dirty="0">
                <a:solidFill>
                  <a:schemeClr val="tx1"/>
                </a:solidFill>
              </a:rPr>
              <a:t> (</a:t>
            </a:r>
            <a:r>
              <a:rPr lang="en-GB" sz="800" dirty="0" err="1">
                <a:solidFill>
                  <a:schemeClr val="tx1"/>
                </a:solidFill>
              </a:rPr>
              <a:t>talo</a:t>
            </a:r>
            <a:r>
              <a:rPr lang="en-GB" sz="800" dirty="0">
                <a:solidFill>
                  <a:schemeClr val="tx1"/>
                </a:solidFill>
              </a:rPr>
              <a:t>)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B672CB0-659C-A951-1D51-055778452536}"/>
              </a:ext>
            </a:extLst>
          </p:cNvPr>
          <p:cNvSpPr/>
          <p:nvPr/>
        </p:nvSpPr>
        <p:spPr>
          <a:xfrm>
            <a:off x="1106868" y="4317884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11B92A4-F292-1F28-24BD-D4876C6EE981}"/>
              </a:ext>
            </a:extLst>
          </p:cNvPr>
          <p:cNvSpPr/>
          <p:nvPr/>
        </p:nvSpPr>
        <p:spPr>
          <a:xfrm>
            <a:off x="525141" y="5223370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Tyyppi</a:t>
            </a:r>
            <a:r>
              <a:rPr lang="en-GB" sz="800" dirty="0">
                <a:solidFill>
                  <a:schemeClr val="tx1"/>
                </a:solidFill>
              </a:rPr>
              <a:t> (</a:t>
            </a:r>
            <a:r>
              <a:rPr lang="en-GB" sz="800" dirty="0" err="1">
                <a:solidFill>
                  <a:schemeClr val="tx1"/>
                </a:solidFill>
              </a:rPr>
              <a:t>talo</a:t>
            </a:r>
            <a:r>
              <a:rPr lang="en-GB" sz="800" dirty="0">
                <a:solidFill>
                  <a:schemeClr val="tx1"/>
                </a:solidFill>
              </a:rPr>
              <a:t>)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6A7D8E7-9203-3E88-FC5C-89B23D28C8A2}"/>
              </a:ext>
            </a:extLst>
          </p:cNvPr>
          <p:cNvSpPr/>
          <p:nvPr/>
        </p:nvSpPr>
        <p:spPr>
          <a:xfrm>
            <a:off x="5481544" y="5517176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3F12289-C76A-5FDF-A11F-072C148877A8}"/>
              </a:ext>
            </a:extLst>
          </p:cNvPr>
          <p:cNvSpPr/>
          <p:nvPr/>
        </p:nvSpPr>
        <p:spPr>
          <a:xfrm>
            <a:off x="5481544" y="5719805"/>
            <a:ext cx="433747" cy="1755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E090660-D2BF-FFB0-655F-915EA51212C7}"/>
              </a:ext>
            </a:extLst>
          </p:cNvPr>
          <p:cNvSpPr txBox="1"/>
          <p:nvPr/>
        </p:nvSpPr>
        <p:spPr>
          <a:xfrm>
            <a:off x="4748576" y="6167061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Hedelmällisyys_2025.xlsx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F61F217-4DE2-807F-08B9-9006DE2FF72A}"/>
              </a:ext>
            </a:extLst>
          </p:cNvPr>
          <p:cNvSpPr/>
          <p:nvPr/>
        </p:nvSpPr>
        <p:spPr>
          <a:xfrm>
            <a:off x="4927346" y="6521117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Vuosi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2AF3D2F-FDD5-D91C-58B9-00E0158E6065}"/>
              </a:ext>
            </a:extLst>
          </p:cNvPr>
          <p:cNvSpPr/>
          <p:nvPr/>
        </p:nvSpPr>
        <p:spPr>
          <a:xfrm>
            <a:off x="3999999" y="5498322"/>
            <a:ext cx="433747" cy="165551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063A5CB-C5DD-C7AB-A992-DD385FCC3822}"/>
              </a:ext>
            </a:extLst>
          </p:cNvPr>
          <p:cNvSpPr/>
          <p:nvPr/>
        </p:nvSpPr>
        <p:spPr>
          <a:xfrm>
            <a:off x="3999999" y="5719805"/>
            <a:ext cx="433747" cy="1755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C43D979-F4D3-8DF6-3A4D-CDCBB38A6A2C}"/>
              </a:ext>
            </a:extLst>
          </p:cNvPr>
          <p:cNvSpPr txBox="1"/>
          <p:nvPr/>
        </p:nvSpPr>
        <p:spPr>
          <a:xfrm>
            <a:off x="3267031" y="6167058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Kuolemanvaara_2025.xlsx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B34D0FD9-89E9-7D1B-B2D2-F84F91A73061}"/>
              </a:ext>
            </a:extLst>
          </p:cNvPr>
          <p:cNvSpPr/>
          <p:nvPr/>
        </p:nvSpPr>
        <p:spPr>
          <a:xfrm>
            <a:off x="3445801" y="6511690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Vuosi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5826DE8-09E8-4C9E-BAA6-BFE58752F7F1}"/>
              </a:ext>
            </a:extLst>
          </p:cNvPr>
          <p:cNvSpPr/>
          <p:nvPr/>
        </p:nvSpPr>
        <p:spPr>
          <a:xfrm>
            <a:off x="3995475" y="2494641"/>
            <a:ext cx="433747" cy="1755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065B3F-54A7-77D0-6D41-A7EAF970CE66}"/>
              </a:ext>
            </a:extLst>
          </p:cNvPr>
          <p:cNvSpPr txBox="1"/>
          <p:nvPr/>
        </p:nvSpPr>
        <p:spPr>
          <a:xfrm>
            <a:off x="3267031" y="2785827"/>
            <a:ext cx="1308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Vanha_rakennuskanta_parametrit.xlsx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AF48716-B964-E04E-0A52-D7F58E7ABBB3}"/>
              </a:ext>
            </a:extLst>
          </p:cNvPr>
          <p:cNvSpPr/>
          <p:nvPr/>
        </p:nvSpPr>
        <p:spPr>
          <a:xfrm>
            <a:off x="3409494" y="3191002"/>
            <a:ext cx="933097" cy="12629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alue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D4707F8-59AE-6AE2-5F2A-4ED0BFACD805}"/>
              </a:ext>
            </a:extLst>
          </p:cNvPr>
          <p:cNvSpPr/>
          <p:nvPr/>
        </p:nvSpPr>
        <p:spPr>
          <a:xfrm>
            <a:off x="3409494" y="3345047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muuttotyyp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47624BCD-5A1D-970E-007B-FF6205E25E8C}"/>
              </a:ext>
            </a:extLst>
          </p:cNvPr>
          <p:cNvSpPr/>
          <p:nvPr/>
        </p:nvSpPr>
        <p:spPr>
          <a:xfrm>
            <a:off x="4017739" y="3917592"/>
            <a:ext cx="433747" cy="1755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DEF2076-A6DE-1E2B-EB35-77BE86C07ACD}"/>
              </a:ext>
            </a:extLst>
          </p:cNvPr>
          <p:cNvSpPr txBox="1"/>
          <p:nvPr/>
        </p:nvSpPr>
        <p:spPr>
          <a:xfrm>
            <a:off x="3227779" y="4218721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Vanhakanta_muutto.xlsx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41ABABC-17BB-182B-DD07-357554CC70DD}"/>
              </a:ext>
            </a:extLst>
          </p:cNvPr>
          <p:cNvSpPr/>
          <p:nvPr/>
        </p:nvSpPr>
        <p:spPr>
          <a:xfrm>
            <a:off x="3434942" y="4707986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muuttotyyp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7E7CC2F-A302-9C50-19EC-D721065D3A8B}"/>
              </a:ext>
            </a:extLst>
          </p:cNvPr>
          <p:cNvSpPr/>
          <p:nvPr/>
        </p:nvSpPr>
        <p:spPr>
          <a:xfrm>
            <a:off x="3391828" y="1896296"/>
            <a:ext cx="933097" cy="12629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alue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10209CF-4771-D293-A458-2EDE92856642}"/>
              </a:ext>
            </a:extLst>
          </p:cNvPr>
          <p:cNvSpPr/>
          <p:nvPr/>
        </p:nvSpPr>
        <p:spPr>
          <a:xfrm>
            <a:off x="3392587" y="2045045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Vuosi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00A2EB4-6FA5-484C-22C6-585E7DBFDEF6}"/>
              </a:ext>
            </a:extLst>
          </p:cNvPr>
          <p:cNvSpPr/>
          <p:nvPr/>
        </p:nvSpPr>
        <p:spPr>
          <a:xfrm>
            <a:off x="3994892" y="1037201"/>
            <a:ext cx="433747" cy="1755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8BC5E65-58B5-1E12-BA62-2FF6AB6F8488}"/>
              </a:ext>
            </a:extLst>
          </p:cNvPr>
          <p:cNvSpPr/>
          <p:nvPr/>
        </p:nvSpPr>
        <p:spPr>
          <a:xfrm>
            <a:off x="3994892" y="123107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9C46281B-7686-221D-D6E4-35D3255EA3D1}"/>
              </a:ext>
            </a:extLst>
          </p:cNvPr>
          <p:cNvSpPr/>
          <p:nvPr/>
        </p:nvSpPr>
        <p:spPr>
          <a:xfrm>
            <a:off x="3999999" y="5935577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FA88F272-912E-F454-2FA2-850DFE6051E1}"/>
              </a:ext>
            </a:extLst>
          </p:cNvPr>
          <p:cNvSpPr/>
          <p:nvPr/>
        </p:nvSpPr>
        <p:spPr>
          <a:xfrm>
            <a:off x="5481544" y="593434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F656C43C-B874-26A3-0334-881C7A13A0F0}"/>
              </a:ext>
            </a:extLst>
          </p:cNvPr>
          <p:cNvSpPr/>
          <p:nvPr/>
        </p:nvSpPr>
        <p:spPr>
          <a:xfrm>
            <a:off x="6502065" y="1084093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A8BE0354-2145-72F3-E581-278AFCF7518F}"/>
              </a:ext>
            </a:extLst>
          </p:cNvPr>
          <p:cNvSpPr/>
          <p:nvPr/>
        </p:nvSpPr>
        <p:spPr>
          <a:xfrm>
            <a:off x="7271859" y="1175764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F3F05CE2-53B0-64C9-5F10-5A771169A0B2}"/>
              </a:ext>
            </a:extLst>
          </p:cNvPr>
          <p:cNvSpPr txBox="1"/>
          <p:nvPr/>
        </p:nvSpPr>
        <p:spPr>
          <a:xfrm>
            <a:off x="6528530" y="1440960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Kuntien_välinen_lähtömuutto.xlsx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130C66-79B5-6CD3-CB67-32542C33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244" y="156593"/>
            <a:ext cx="5345112" cy="297861"/>
          </a:xfrm>
        </p:spPr>
        <p:txBody>
          <a:bodyPr>
            <a:noAutofit/>
          </a:bodyPr>
          <a:lstStyle/>
          <a:p>
            <a:r>
              <a:rPr lang="fi-FI" sz="2000" dirty="0"/>
              <a:t>Excel-tiedostot ja yhteiset kentät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CBF165-8350-A31A-6BAB-729194D8FE46}"/>
              </a:ext>
            </a:extLst>
          </p:cNvPr>
          <p:cNvSpPr/>
          <p:nvPr/>
        </p:nvSpPr>
        <p:spPr>
          <a:xfrm>
            <a:off x="7942533" y="1069080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0AFB02-69A6-D1A5-7623-73FD0F61BE27}"/>
              </a:ext>
            </a:extLst>
          </p:cNvPr>
          <p:cNvSpPr/>
          <p:nvPr/>
        </p:nvSpPr>
        <p:spPr>
          <a:xfrm>
            <a:off x="8712327" y="1160751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B0DF3-BDED-42E4-EBF2-46DDD4DF7D25}"/>
              </a:ext>
            </a:extLst>
          </p:cNvPr>
          <p:cNvSpPr txBox="1"/>
          <p:nvPr/>
        </p:nvSpPr>
        <p:spPr>
          <a:xfrm>
            <a:off x="7968998" y="1425947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Kuntien_välinen_tulomuutto.xlsx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6EE7ED-2F6C-A29C-A624-53B77E90F6E5}"/>
              </a:ext>
            </a:extLst>
          </p:cNvPr>
          <p:cNvSpPr/>
          <p:nvPr/>
        </p:nvSpPr>
        <p:spPr>
          <a:xfrm>
            <a:off x="6502065" y="2511913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DD64A6-463D-5C28-5176-83F7AD2141DE}"/>
              </a:ext>
            </a:extLst>
          </p:cNvPr>
          <p:cNvSpPr/>
          <p:nvPr/>
        </p:nvSpPr>
        <p:spPr>
          <a:xfrm>
            <a:off x="7271859" y="2603584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6E397-B724-92B9-B4A5-552C83FFB580}"/>
              </a:ext>
            </a:extLst>
          </p:cNvPr>
          <p:cNvSpPr txBox="1"/>
          <p:nvPr/>
        </p:nvSpPr>
        <p:spPr>
          <a:xfrm>
            <a:off x="6528530" y="2868780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Työmarkkina_lähtömuutto.xlsx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E4555D-3740-7C9D-1F63-031F502632B3}"/>
              </a:ext>
            </a:extLst>
          </p:cNvPr>
          <p:cNvSpPr/>
          <p:nvPr/>
        </p:nvSpPr>
        <p:spPr>
          <a:xfrm>
            <a:off x="7942533" y="2496900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113393-6684-E4F9-644A-4EA254A2E5B1}"/>
              </a:ext>
            </a:extLst>
          </p:cNvPr>
          <p:cNvSpPr/>
          <p:nvPr/>
        </p:nvSpPr>
        <p:spPr>
          <a:xfrm>
            <a:off x="8712327" y="2588571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E3123-BDDA-5E10-FABA-AD5914F814E5}"/>
              </a:ext>
            </a:extLst>
          </p:cNvPr>
          <p:cNvSpPr txBox="1"/>
          <p:nvPr/>
        </p:nvSpPr>
        <p:spPr>
          <a:xfrm>
            <a:off x="7968998" y="2853767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Työmarkkina_tulomuutto.xlsx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6A24F7-ADA2-B0C6-5E44-7BD3EF44F98E}"/>
              </a:ext>
            </a:extLst>
          </p:cNvPr>
          <p:cNvSpPr/>
          <p:nvPr/>
        </p:nvSpPr>
        <p:spPr>
          <a:xfrm>
            <a:off x="6512510" y="3922047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E7CE8A-4F1C-019B-08CC-EA93A94B379A}"/>
              </a:ext>
            </a:extLst>
          </p:cNvPr>
          <p:cNvSpPr/>
          <p:nvPr/>
        </p:nvSpPr>
        <p:spPr>
          <a:xfrm>
            <a:off x="7282304" y="4013718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A46F07-A27A-4790-E4B3-1EA41A065BA6}"/>
              </a:ext>
            </a:extLst>
          </p:cNvPr>
          <p:cNvSpPr txBox="1"/>
          <p:nvPr/>
        </p:nvSpPr>
        <p:spPr>
          <a:xfrm>
            <a:off x="6538975" y="4278914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Ulkomaat_lähtömuutto.xlsx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BAD89E-542F-B132-A703-9CF775329021}"/>
              </a:ext>
            </a:extLst>
          </p:cNvPr>
          <p:cNvSpPr/>
          <p:nvPr/>
        </p:nvSpPr>
        <p:spPr>
          <a:xfrm>
            <a:off x="7952978" y="3907034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906FD0-915C-E405-AA9F-ED0FB5AD2E4C}"/>
              </a:ext>
            </a:extLst>
          </p:cNvPr>
          <p:cNvSpPr/>
          <p:nvPr/>
        </p:nvSpPr>
        <p:spPr>
          <a:xfrm>
            <a:off x="8722772" y="3998705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B32315-4632-3559-389B-0C1179C38FD9}"/>
              </a:ext>
            </a:extLst>
          </p:cNvPr>
          <p:cNvSpPr txBox="1"/>
          <p:nvPr/>
        </p:nvSpPr>
        <p:spPr>
          <a:xfrm>
            <a:off x="7979443" y="4263901"/>
            <a:ext cx="1347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Ulkomaat_tulomuutto.xlsx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0855F3-6357-8CC6-18B1-CC06610FD0B6}"/>
              </a:ext>
            </a:extLst>
          </p:cNvPr>
          <p:cNvSpPr/>
          <p:nvPr/>
        </p:nvSpPr>
        <p:spPr>
          <a:xfrm>
            <a:off x="9369010" y="1084093"/>
            <a:ext cx="1347424" cy="13184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26A681-F779-D534-122D-C7DA8A3FC8B1}"/>
              </a:ext>
            </a:extLst>
          </p:cNvPr>
          <p:cNvSpPr txBox="1"/>
          <p:nvPr/>
        </p:nvSpPr>
        <p:spPr>
          <a:xfrm>
            <a:off x="9369010" y="1630822"/>
            <a:ext cx="13474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fi-FI" sz="800" dirty="0"/>
              <a:t>Vaesto_2025.xlsx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89102DA-F609-0270-CA20-8CCD45D9B7E1}"/>
              </a:ext>
            </a:extLst>
          </p:cNvPr>
          <p:cNvSpPr/>
          <p:nvPr/>
        </p:nvSpPr>
        <p:spPr>
          <a:xfrm>
            <a:off x="9533059" y="2009138"/>
            <a:ext cx="933097" cy="12629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alue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AE4680-0A9E-8DFF-3EE7-A863AD5D5C2D}"/>
              </a:ext>
            </a:extLst>
          </p:cNvPr>
          <p:cNvSpPr/>
          <p:nvPr/>
        </p:nvSpPr>
        <p:spPr>
          <a:xfrm>
            <a:off x="9533818" y="2157887"/>
            <a:ext cx="933098" cy="11961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Vuosi</a:t>
            </a:r>
            <a:endParaRPr lang="en-FI" sz="8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7C9975-01BF-2FFD-52B2-8152889973B3}"/>
              </a:ext>
            </a:extLst>
          </p:cNvPr>
          <p:cNvSpPr/>
          <p:nvPr/>
        </p:nvSpPr>
        <p:spPr>
          <a:xfrm>
            <a:off x="10136123" y="1181695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38AB8C-1DDC-AFD4-FC58-A70A4158A0E1}"/>
              </a:ext>
            </a:extLst>
          </p:cNvPr>
          <p:cNvSpPr txBox="1"/>
          <p:nvPr/>
        </p:nvSpPr>
        <p:spPr>
          <a:xfrm>
            <a:off x="9383001" y="2632634"/>
            <a:ext cx="18149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Alue-</a:t>
            </a:r>
            <a:r>
              <a:rPr lang="en-GB" sz="1200" b="1" dirty="0" err="1"/>
              <a:t>ennuste</a:t>
            </a:r>
            <a:r>
              <a:rPr lang="en-GB" sz="1200" b="1" dirty="0"/>
              <a:t>:</a:t>
            </a:r>
          </a:p>
          <a:p>
            <a:r>
              <a:rPr lang="en-GB" sz="1200" dirty="0"/>
              <a:t>Ennuste_alue_Ve1.xlsx</a:t>
            </a:r>
          </a:p>
          <a:p>
            <a:endParaRPr lang="en-FI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A0D2B7-5CE1-EF4A-5A5E-2489C8B34D0F}"/>
              </a:ext>
            </a:extLst>
          </p:cNvPr>
          <p:cNvSpPr txBox="1"/>
          <p:nvPr/>
        </p:nvSpPr>
        <p:spPr>
          <a:xfrm>
            <a:off x="2962288" y="539242"/>
            <a:ext cx="3329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 err="1"/>
              <a:t>Vanha</a:t>
            </a:r>
            <a:r>
              <a:rPr lang="en-GB" sz="1200" b="1" dirty="0"/>
              <a:t> </a:t>
            </a:r>
            <a:r>
              <a:rPr lang="en-GB" sz="1200" b="1" dirty="0" err="1"/>
              <a:t>rakennuskanta</a:t>
            </a:r>
            <a:r>
              <a:rPr lang="en-GB" sz="1200" b="1" dirty="0"/>
              <a:t>:</a:t>
            </a:r>
          </a:p>
          <a:p>
            <a:r>
              <a:rPr lang="fi-FI" sz="1200" dirty="0"/>
              <a:t>Vanha_rakennuskanta_ennuste_Ve1.xlsx</a:t>
            </a:r>
            <a:endParaRPr lang="en-FI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BC485B-6FEA-68EE-2B25-4E380C5FDCF1}"/>
              </a:ext>
            </a:extLst>
          </p:cNvPr>
          <p:cNvSpPr txBox="1"/>
          <p:nvPr/>
        </p:nvSpPr>
        <p:spPr>
          <a:xfrm>
            <a:off x="304440" y="5621162"/>
            <a:ext cx="2418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Uusi </a:t>
            </a:r>
            <a:r>
              <a:rPr lang="en-GB" sz="1200" b="1" dirty="0" err="1"/>
              <a:t>rakennus-tuotanto</a:t>
            </a:r>
            <a:r>
              <a:rPr lang="en-GB" sz="1200" b="1" dirty="0"/>
              <a:t>:</a:t>
            </a:r>
          </a:p>
          <a:p>
            <a:r>
              <a:rPr lang="en-GB" sz="1200" dirty="0"/>
              <a:t>Uustuotanto_ennuste_Ve1.xlsx</a:t>
            </a:r>
            <a:endParaRPr lang="en-FI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9D1A79-DFD8-722A-CD7A-13E86C453595}"/>
              </a:ext>
            </a:extLst>
          </p:cNvPr>
          <p:cNvSpPr txBox="1"/>
          <p:nvPr/>
        </p:nvSpPr>
        <p:spPr>
          <a:xfrm>
            <a:off x="6389586" y="5442478"/>
            <a:ext cx="2756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/>
              <a:t>Kaikissa</a:t>
            </a:r>
            <a:r>
              <a:rPr lang="en-GB" sz="1200" dirty="0"/>
              <a:t> </a:t>
            </a:r>
            <a:r>
              <a:rPr lang="en-GB" sz="1200" dirty="0" err="1"/>
              <a:t>tarvittavat</a:t>
            </a:r>
            <a:r>
              <a:rPr lang="en-GB" sz="1200" dirty="0"/>
              <a:t> </a:t>
            </a:r>
            <a:r>
              <a:rPr lang="en-GB" sz="1200" dirty="0" err="1"/>
              <a:t>tiedot</a:t>
            </a:r>
            <a:endParaRPr lang="en-GB" sz="1200" dirty="0"/>
          </a:p>
          <a:p>
            <a:r>
              <a:rPr lang="en-GB" sz="1200" b="1" dirty="0" err="1"/>
              <a:t>hedtyyp</a:t>
            </a:r>
            <a:r>
              <a:rPr lang="en-GB" sz="1200" b="1" dirty="0"/>
              <a:t>=</a:t>
            </a:r>
            <a:r>
              <a:rPr lang="en-GB" sz="1200" b="1" dirty="0" err="1"/>
              <a:t>kvtyyp</a:t>
            </a:r>
            <a:r>
              <a:rPr lang="en-GB" sz="1200" b="1" dirty="0"/>
              <a:t> </a:t>
            </a:r>
            <a:r>
              <a:rPr lang="en-GB" sz="1200" b="1" dirty="0" err="1"/>
              <a:t>ajoissa</a:t>
            </a:r>
            <a:r>
              <a:rPr lang="en-GB" sz="1200" b="1" dirty="0"/>
              <a:t> </a:t>
            </a:r>
            <a:r>
              <a:rPr lang="en-GB" sz="1200" b="1" dirty="0" err="1"/>
              <a:t>eli</a:t>
            </a:r>
            <a:r>
              <a:rPr lang="en-GB" sz="1200" b="1" dirty="0"/>
              <a:t> </a:t>
            </a:r>
            <a:r>
              <a:rPr lang="en-GB" sz="1200" b="1" dirty="0" err="1"/>
              <a:t>tulee</a:t>
            </a:r>
            <a:r>
              <a:rPr lang="en-GB" sz="1200" b="1" dirty="0"/>
              <a:t> olla </a:t>
            </a:r>
            <a:r>
              <a:rPr lang="en-GB" sz="1200" b="1" dirty="0" err="1"/>
              <a:t>sama</a:t>
            </a:r>
            <a:r>
              <a:rPr lang="en-GB" sz="1200" b="1" dirty="0"/>
              <a:t>. </a:t>
            </a:r>
            <a:r>
              <a:rPr lang="en-GB" sz="1200" b="1" dirty="0" err="1"/>
              <a:t>Lisäksi</a:t>
            </a:r>
            <a:r>
              <a:rPr lang="en-GB" sz="1200" b="1" dirty="0"/>
              <a:t> </a:t>
            </a:r>
            <a:r>
              <a:rPr lang="en-GB" sz="1200" b="1" dirty="0" err="1"/>
              <a:t>vuodet</a:t>
            </a:r>
            <a:r>
              <a:rPr lang="en-GB" sz="1200" b="1" dirty="0"/>
              <a:t> </a:t>
            </a:r>
            <a:r>
              <a:rPr lang="en-GB" sz="1200" b="1" dirty="0" err="1"/>
              <a:t>tulee</a:t>
            </a:r>
            <a:r>
              <a:rPr lang="en-GB" sz="1200" b="1" dirty="0"/>
              <a:t> olla </a:t>
            </a:r>
            <a:r>
              <a:rPr lang="en-GB" sz="1200" b="1" dirty="0" err="1"/>
              <a:t>molemmissa</a:t>
            </a:r>
            <a:r>
              <a:rPr lang="en-GB" sz="1200" b="1" dirty="0"/>
              <a:t> Samat </a:t>
            </a:r>
            <a:r>
              <a:rPr lang="en-GB" sz="1200" b="1" dirty="0" err="1"/>
              <a:t>kuin</a:t>
            </a:r>
            <a:r>
              <a:rPr lang="en-GB" sz="1200" b="1" dirty="0"/>
              <a:t> </a:t>
            </a:r>
            <a:r>
              <a:rPr lang="en-GB" sz="1200" b="1" dirty="0" err="1"/>
              <a:t>ajo</a:t>
            </a:r>
            <a:r>
              <a:rPr lang="en-GB" sz="1200" b="1" dirty="0"/>
              <a:t> </a:t>
            </a:r>
            <a:r>
              <a:rPr lang="en-GB" sz="1200" b="1" dirty="0" err="1"/>
              <a:t>ylensä</a:t>
            </a:r>
            <a:endParaRPr lang="en-FI" sz="1200" b="1" dirty="0"/>
          </a:p>
        </p:txBody>
      </p:sp>
    </p:spTree>
    <p:extLst>
      <p:ext uri="{BB962C8B-B14F-4D97-AF65-F5344CB8AC3E}">
        <p14:creationId xmlns:p14="http://schemas.microsoft.com/office/powerpoint/2010/main" val="41715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776A-0D78-83A0-6DB0-0CF19149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0AE5C-DA9F-59FB-ABE2-CFD9F24D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5040312" cy="536610"/>
          </a:xfrm>
        </p:spPr>
        <p:txBody>
          <a:bodyPr>
            <a:noAutofit/>
          </a:bodyPr>
          <a:lstStyle/>
          <a:p>
            <a:r>
              <a:rPr lang="fi-FI" sz="2000" dirty="0"/>
              <a:t>Alueittainen_asuntotuotanto.xlsx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UTENN.ipynb</a:t>
            </a:r>
            <a:r>
              <a:rPr lang="fi-FI" sz="2000" dirty="0"/>
              <a:t> – uustuotanto)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2CCBF-CC21-C3FE-3E9E-3F279B92F261}"/>
              </a:ext>
            </a:extLst>
          </p:cNvPr>
          <p:cNvSpPr txBox="1"/>
          <p:nvPr/>
        </p:nvSpPr>
        <p:spPr>
          <a:xfrm>
            <a:off x="1055687" y="4930989"/>
            <a:ext cx="105015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FI" dirty="0" err="1"/>
              <a:t>Asuntotuotannon</a:t>
            </a:r>
            <a:r>
              <a:rPr lang="en-FI" dirty="0"/>
              <a:t> </a:t>
            </a:r>
            <a:r>
              <a:rPr lang="en-FI" dirty="0" err="1"/>
              <a:t>osa-alue-ennusteen</a:t>
            </a:r>
            <a:r>
              <a:rPr lang="en-FI" dirty="0"/>
              <a:t> </a:t>
            </a:r>
            <a:r>
              <a:rPr lang="en-FI" dirty="0" err="1"/>
              <a:t>tiedosto</a:t>
            </a:r>
            <a:r>
              <a:rPr lang="en-FI" dirty="0"/>
              <a:t> </a:t>
            </a:r>
            <a:r>
              <a:rPr lang="en-FI" dirty="0" err="1"/>
              <a:t>Excelissä</a:t>
            </a:r>
            <a:r>
              <a:rPr lang="en-GB" dirty="0"/>
              <a:t>. </a:t>
            </a:r>
            <a:r>
              <a:rPr lang="en-GB" dirty="0" err="1"/>
              <a:t>Asuntorakentamisessa</a:t>
            </a:r>
            <a:r>
              <a:rPr lang="en-GB" dirty="0"/>
              <a:t> </a:t>
            </a:r>
            <a:r>
              <a:rPr lang="en-GB" dirty="0" err="1"/>
              <a:t>valmistuvan</a:t>
            </a:r>
            <a:r>
              <a:rPr lang="en-GB" dirty="0"/>
              <a:t> </a:t>
            </a:r>
            <a:r>
              <a:rPr lang="en-GB" dirty="0" err="1"/>
              <a:t>asuinrakennusten</a:t>
            </a:r>
            <a:r>
              <a:rPr lang="en-GB" dirty="0"/>
              <a:t> </a:t>
            </a:r>
            <a:r>
              <a:rPr lang="en-GB" dirty="0" err="1"/>
              <a:t>kerrosalan</a:t>
            </a:r>
            <a:r>
              <a:rPr lang="en-GB" dirty="0"/>
              <a:t> (m2)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asuntojen</a:t>
            </a:r>
            <a:r>
              <a:rPr lang="en-GB" dirty="0"/>
              <a:t> </a:t>
            </a:r>
            <a:r>
              <a:rPr lang="en-GB" dirty="0" err="1"/>
              <a:t>määrän</a:t>
            </a:r>
            <a:r>
              <a:rPr lang="en-GB" dirty="0"/>
              <a:t> </a:t>
            </a:r>
            <a:r>
              <a:rPr lang="en-GB" dirty="0" err="1"/>
              <a:t>ennuste</a:t>
            </a:r>
            <a:r>
              <a:rPr lang="en-GB" dirty="0"/>
              <a:t>. </a:t>
            </a:r>
            <a:r>
              <a:rPr lang="en-GB" dirty="0" err="1"/>
              <a:t>Toteutumisennuste</a:t>
            </a:r>
            <a:r>
              <a:rPr lang="en-GB" dirty="0"/>
              <a:t> </a:t>
            </a:r>
            <a:r>
              <a:rPr lang="en-GB" dirty="0" err="1"/>
              <a:t>asuntokerrosala</a:t>
            </a:r>
            <a:r>
              <a:rPr lang="en-GB" dirty="0"/>
              <a:t> kem2 1. </a:t>
            </a:r>
            <a:r>
              <a:rPr lang="en-GB" dirty="0" err="1"/>
              <a:t>vuosi</a:t>
            </a:r>
            <a:r>
              <a:rPr lang="en-GB" dirty="0"/>
              <a:t> 2025. </a:t>
            </a:r>
            <a:r>
              <a:rPr lang="fi-FI" dirty="0"/>
              <a:t>Vv1 lähtövuosi (=1. asuntotuotantovuoden vuosiluku). </a:t>
            </a:r>
            <a:r>
              <a:rPr lang="en-GB" dirty="0"/>
              <a:t>Vv1 = 2025 </a:t>
            </a:r>
            <a:r>
              <a:rPr lang="en-GB" dirty="0" err="1"/>
              <a:t>ja</a:t>
            </a:r>
            <a:r>
              <a:rPr lang="en-GB" dirty="0"/>
              <a:t> Vv11=2035</a:t>
            </a:r>
          </a:p>
          <a:p>
            <a:pPr fontAlgn="b"/>
            <a:endParaRPr lang="en-GB" dirty="0"/>
          </a:p>
          <a:p>
            <a:r>
              <a:rPr lang="en-GB" dirty="0" err="1">
                <a:solidFill>
                  <a:srgbClr val="FF0000"/>
                </a:solidFill>
              </a:rPr>
              <a:t>Luvut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ovat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esimerkiksi</a:t>
            </a:r>
            <a:endParaRPr lang="en-FI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0AF6FC-15CE-19E6-AEDB-1602F16D7EF4}"/>
              </a:ext>
            </a:extLst>
          </p:cNvPr>
          <p:cNvSpPr/>
          <p:nvPr/>
        </p:nvSpPr>
        <p:spPr>
          <a:xfrm>
            <a:off x="7528727" y="137466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50D8A6-133C-A98D-5519-EF351C42C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23499"/>
              </p:ext>
            </p:extLst>
          </p:nvPr>
        </p:nvGraphicFramePr>
        <p:xfrm>
          <a:off x="1055687" y="1332616"/>
          <a:ext cx="7899400" cy="3314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99057868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74719308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41518101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0834522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96719542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392011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21310818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64450919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689925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46670540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287334732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80896538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84715772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302152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 dirty="0" err="1">
                          <a:effectLst/>
                        </a:rPr>
                        <a:t>Aluenimi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alue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Tyyppi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Vv1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Vv2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Vv3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Vv4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Vv5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Vv6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Vv7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Vv8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Vv9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Vv10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dirty="0">
                          <a:effectLst/>
                        </a:rPr>
                        <a:t>Vv11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2485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Haviseva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46894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Huutijärvi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2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183720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Kuhmalahti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51264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Lamminrahka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500865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Lamminrahka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2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21726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Lamminrahka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80510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Lamminrahka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3418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Liuksiala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64823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Omenatarha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 dirty="0">
                          <a:effectLst/>
                        </a:rPr>
                        <a:t>0</a:t>
                      </a:r>
                      <a:endParaRPr lang="en-FI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582397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Ruutana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13539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Ruutana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2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075565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Ruutana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91170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Sariola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08712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Suorama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727357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Tursola-K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2534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Tursola-S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40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50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00360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u="none" strike="noStrike">
                          <a:effectLst/>
                        </a:rPr>
                        <a:t>Vatiala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</a:t>
                      </a:r>
                      <a:endParaRPr lang="en-FI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30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60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70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80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90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100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110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>
                          <a:effectLst/>
                        </a:rPr>
                        <a:t>120</a:t>
                      </a:r>
                      <a:endParaRPr lang="en-FI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800" u="none" strike="noStrike" dirty="0">
                          <a:effectLst/>
                        </a:rPr>
                        <a:t>130</a:t>
                      </a:r>
                      <a:endParaRPr lang="en-FI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00229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07D530-E63E-919E-AD20-2ECBAC330466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486344-0DF1-3B3C-6CA9-AE216E21B251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C30393-3291-A9DB-7EF8-1243D192F5EC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29D470-EE1B-9C2D-EE88-FEAFD49E1102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95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F10EA-53AA-493E-3B06-2E9C09B3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B302-DA2F-3F14-C0C7-84C91AFC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Hedelmällisyys_2025.xlsx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UTENN.ipynb</a:t>
            </a:r>
            <a:r>
              <a:rPr lang="fi-FI" sz="2000" dirty="0"/>
              <a:t> – uustuotanto)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29A14-1CAD-3D85-1A1E-E86D935AF47A}"/>
              </a:ext>
            </a:extLst>
          </p:cNvPr>
          <p:cNvSpPr txBox="1"/>
          <p:nvPr/>
        </p:nvSpPr>
        <p:spPr>
          <a:xfrm>
            <a:off x="1055687" y="3758348"/>
            <a:ext cx="70230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GB" dirty="0" err="1"/>
              <a:t>Hedelmällisyyskertoimet</a:t>
            </a:r>
            <a:r>
              <a:rPr lang="en-GB" dirty="0"/>
              <a:t> </a:t>
            </a:r>
            <a:r>
              <a:rPr lang="en-GB" dirty="0" err="1"/>
              <a:t>excelissä</a:t>
            </a:r>
            <a:r>
              <a:rPr lang="en-GB" dirty="0"/>
              <a:t>, </a:t>
            </a:r>
            <a:r>
              <a:rPr lang="en-GB" dirty="0" err="1"/>
              <a:t>naiset</a:t>
            </a:r>
            <a:r>
              <a:rPr lang="en-GB" dirty="0"/>
              <a:t> 15-49 </a:t>
            </a:r>
            <a:r>
              <a:rPr lang="en-GB" dirty="0" err="1"/>
              <a:t>vuotiaat</a:t>
            </a:r>
            <a:r>
              <a:rPr lang="en-GB" dirty="0"/>
              <a:t>. </a:t>
            </a:r>
            <a:r>
              <a:rPr lang="en-GB" dirty="0" err="1"/>
              <a:t>Tiedostossa</a:t>
            </a:r>
            <a:r>
              <a:rPr lang="en-GB" dirty="0"/>
              <a:t> t</a:t>
            </a:r>
            <a:r>
              <a:rPr lang="fi-FI" dirty="0" err="1"/>
              <a:t>ulee</a:t>
            </a:r>
            <a:r>
              <a:rPr lang="fi-FI" dirty="0"/>
              <a:t> olla sama määrä vuosia kuin</a:t>
            </a:r>
            <a:endParaRPr lang="en-FI" dirty="0"/>
          </a:p>
          <a:p>
            <a:pPr fontAlgn="b"/>
            <a:r>
              <a:rPr lang="en-GB" dirty="0"/>
              <a:t>Alueittainen_asuntotuotanto.xlsx </a:t>
            </a:r>
            <a:r>
              <a:rPr lang="en-GB" dirty="0" err="1"/>
              <a:t>ennustevuosimäärät</a:t>
            </a:r>
            <a:endParaRPr lang="en-FI" dirty="0"/>
          </a:p>
          <a:p>
            <a:pPr fontAlgn="b"/>
            <a:r>
              <a:rPr lang="en-GB" dirty="0" err="1"/>
              <a:t>Kertoimet</a:t>
            </a:r>
            <a:r>
              <a:rPr lang="en-GB" dirty="0"/>
              <a:t> </a:t>
            </a:r>
            <a:r>
              <a:rPr lang="en-GB" dirty="0" err="1"/>
              <a:t>saadaan</a:t>
            </a:r>
            <a:r>
              <a:rPr lang="en-GB" dirty="0"/>
              <a:t> </a:t>
            </a:r>
            <a:r>
              <a:rPr lang="en-GB" dirty="0" err="1"/>
              <a:t>Tilastokeskukselta</a:t>
            </a:r>
            <a:r>
              <a:rPr lang="en-GB" dirty="0"/>
              <a:t> </a:t>
            </a:r>
            <a:r>
              <a:rPr lang="en-GB" dirty="0" err="1"/>
              <a:t>pyyntönä</a:t>
            </a:r>
            <a:r>
              <a:rPr lang="en-GB" dirty="0"/>
              <a:t> (</a:t>
            </a:r>
            <a:r>
              <a:rPr lang="en-GB" dirty="0" err="1"/>
              <a:t>kunnat</a:t>
            </a:r>
            <a:r>
              <a:rPr lang="en-GB" dirty="0"/>
              <a:t>).</a:t>
            </a:r>
            <a:endParaRPr lang="en-FI" dirty="0"/>
          </a:p>
          <a:p>
            <a:pPr fontAlgn="b"/>
            <a:r>
              <a:rPr lang="en-GB" dirty="0" err="1"/>
              <a:t>Kerroin</a:t>
            </a:r>
            <a:r>
              <a:rPr lang="en-GB" dirty="0"/>
              <a:t> 1000 </a:t>
            </a:r>
            <a:r>
              <a:rPr lang="en-GB" dirty="0" err="1"/>
              <a:t>asukasta</a:t>
            </a:r>
            <a:r>
              <a:rPr lang="en-GB" dirty="0"/>
              <a:t> </a:t>
            </a:r>
            <a:r>
              <a:rPr lang="en-GB" dirty="0" err="1"/>
              <a:t>kohden</a:t>
            </a:r>
            <a:r>
              <a:rPr lang="en-GB" dirty="0"/>
              <a:t>.</a:t>
            </a:r>
          </a:p>
          <a:p>
            <a:pPr fontAlgn="b"/>
            <a:endParaRPr lang="en-GB" dirty="0"/>
          </a:p>
          <a:p>
            <a:r>
              <a:rPr lang="en-GB" b="1" dirty="0" err="1"/>
              <a:t>hedtyyp</a:t>
            </a:r>
            <a:r>
              <a:rPr lang="en-GB" b="1" dirty="0"/>
              <a:t>=</a:t>
            </a:r>
            <a:r>
              <a:rPr lang="en-GB" b="1" dirty="0" err="1"/>
              <a:t>kvtyyp</a:t>
            </a:r>
            <a:r>
              <a:rPr lang="en-GB" b="1" dirty="0"/>
              <a:t> </a:t>
            </a:r>
            <a:r>
              <a:rPr lang="en-GB" b="1" dirty="0" err="1"/>
              <a:t>ajoissa</a:t>
            </a:r>
            <a:r>
              <a:rPr lang="en-GB" b="1" dirty="0"/>
              <a:t> </a:t>
            </a:r>
            <a:r>
              <a:rPr lang="en-GB" b="1" dirty="0" err="1"/>
              <a:t>eli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sama</a:t>
            </a:r>
            <a:r>
              <a:rPr lang="en-GB" b="1" dirty="0"/>
              <a:t>. </a:t>
            </a:r>
            <a:r>
              <a:rPr lang="en-GB" b="1" dirty="0" err="1"/>
              <a:t>Lisäksi</a:t>
            </a:r>
            <a:r>
              <a:rPr lang="en-GB" b="1" dirty="0"/>
              <a:t> </a:t>
            </a:r>
            <a:r>
              <a:rPr lang="en-GB" b="1" dirty="0" err="1"/>
              <a:t>vuodet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molemmissa</a:t>
            </a:r>
            <a:r>
              <a:rPr lang="en-GB" b="1" dirty="0"/>
              <a:t> Samat </a:t>
            </a:r>
            <a:r>
              <a:rPr lang="en-GB" b="1" dirty="0" err="1"/>
              <a:t>kuin</a:t>
            </a:r>
            <a:r>
              <a:rPr lang="en-GB" b="1" dirty="0"/>
              <a:t> </a:t>
            </a:r>
            <a:r>
              <a:rPr lang="en-GB" b="1" dirty="0" err="1"/>
              <a:t>ajo</a:t>
            </a:r>
            <a:r>
              <a:rPr lang="en-GB" b="1" dirty="0"/>
              <a:t> </a:t>
            </a:r>
            <a:r>
              <a:rPr lang="en-GB" b="1" dirty="0" err="1"/>
              <a:t>ylensä</a:t>
            </a:r>
            <a:endParaRPr lang="en-FI" b="1" dirty="0"/>
          </a:p>
          <a:p>
            <a:endParaRPr lang="en-GB" dirty="0"/>
          </a:p>
          <a:p>
            <a:r>
              <a:rPr lang="en-GB" dirty="0" err="1">
                <a:solidFill>
                  <a:srgbClr val="FF0000"/>
                </a:solidFill>
              </a:rPr>
              <a:t>Luvut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ovat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esimerkiksi</a:t>
            </a:r>
            <a:endParaRPr lang="en-FI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34470-C7E9-4568-89F2-62CE0616D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97483"/>
              </p:ext>
            </p:extLst>
          </p:nvPr>
        </p:nvGraphicFramePr>
        <p:xfrm>
          <a:off x="1055687" y="1288002"/>
          <a:ext cx="4521200" cy="220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36130253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4701593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27759561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2029421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2214591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6007892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0267990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vuosi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hedtyyp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h15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h16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h17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h18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h19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553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783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651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7827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486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708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968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75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180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093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7,99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839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2035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7,99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38250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07633A-351A-49B8-BF99-6AED36F78E41}"/>
              </a:ext>
            </a:extLst>
          </p:cNvPr>
          <p:cNvSpPr/>
          <p:nvPr/>
        </p:nvSpPr>
        <p:spPr>
          <a:xfrm>
            <a:off x="7532017" y="145511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1A5A72-CB42-CA80-2BDE-C4137867FAD6}"/>
              </a:ext>
            </a:extLst>
          </p:cNvPr>
          <p:cNvSpPr/>
          <p:nvPr/>
        </p:nvSpPr>
        <p:spPr>
          <a:xfrm>
            <a:off x="7532017" y="594341"/>
            <a:ext cx="732034" cy="3998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VK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05244-A0DA-54E4-B4D5-28465AD49773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FF6FD9-4777-5E13-75FE-3A8837EB9E7F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8B038D-C9BC-75BC-5DB5-6CE89D1B8B0C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F569ED-B93C-0B66-AF1A-7E6450FE8775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80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C383-CB90-3126-8475-5266F4B7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DF19-4CB4-C618-BD62-973A79AD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Hedelmällisyys_2025_seutu.xlsx</a:t>
            </a:r>
            <a:br>
              <a:rPr lang="fi-FI" sz="2000" dirty="0"/>
            </a:br>
            <a:r>
              <a:rPr lang="fi-FI" sz="2000" dirty="0"/>
              <a:t>(Koodi: 3_SEUDUNENN.ipynb)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FEAF2-BCF4-F8F4-0CE4-C43118BF4C5F}"/>
              </a:ext>
            </a:extLst>
          </p:cNvPr>
          <p:cNvSpPr txBox="1"/>
          <p:nvPr/>
        </p:nvSpPr>
        <p:spPr>
          <a:xfrm>
            <a:off x="1055688" y="3884068"/>
            <a:ext cx="70230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GB" dirty="0" err="1"/>
              <a:t>Hedelmällisyyskertoimet</a:t>
            </a:r>
            <a:r>
              <a:rPr lang="en-GB" dirty="0"/>
              <a:t> </a:t>
            </a:r>
            <a:r>
              <a:rPr lang="en-GB" dirty="0" err="1"/>
              <a:t>excelissä</a:t>
            </a:r>
            <a:r>
              <a:rPr lang="en-GB" dirty="0"/>
              <a:t>, </a:t>
            </a:r>
            <a:r>
              <a:rPr lang="en-GB" dirty="0" err="1"/>
              <a:t>naiset</a:t>
            </a:r>
            <a:r>
              <a:rPr lang="en-GB" dirty="0"/>
              <a:t> 15-49 </a:t>
            </a:r>
            <a:r>
              <a:rPr lang="en-GB" dirty="0" err="1"/>
              <a:t>vuotiaat</a:t>
            </a:r>
            <a:r>
              <a:rPr lang="en-GB" dirty="0"/>
              <a:t>. </a:t>
            </a:r>
            <a:r>
              <a:rPr lang="en-GB" dirty="0" err="1"/>
              <a:t>Tiedostossa</a:t>
            </a:r>
            <a:r>
              <a:rPr lang="en-GB" dirty="0"/>
              <a:t> t</a:t>
            </a:r>
            <a:r>
              <a:rPr lang="fi-FI" dirty="0" err="1"/>
              <a:t>ulee</a:t>
            </a:r>
            <a:r>
              <a:rPr lang="fi-FI" dirty="0"/>
              <a:t> olla sama määrä vuosia kuin</a:t>
            </a:r>
            <a:endParaRPr lang="en-FI" dirty="0"/>
          </a:p>
          <a:p>
            <a:pPr fontAlgn="b"/>
            <a:r>
              <a:rPr lang="en-GB" dirty="0"/>
              <a:t>Alueittainen_asuntotuotanto.xlsx </a:t>
            </a:r>
            <a:r>
              <a:rPr lang="en-GB" dirty="0" err="1"/>
              <a:t>ennustevuosimäärät</a:t>
            </a:r>
            <a:endParaRPr lang="en-FI" dirty="0"/>
          </a:p>
          <a:p>
            <a:pPr fontAlgn="b"/>
            <a:r>
              <a:rPr lang="en-GB" dirty="0" err="1"/>
              <a:t>Kertoimet</a:t>
            </a:r>
            <a:r>
              <a:rPr lang="en-GB" dirty="0"/>
              <a:t> </a:t>
            </a:r>
            <a:r>
              <a:rPr lang="en-GB" dirty="0" err="1"/>
              <a:t>saadaan</a:t>
            </a:r>
            <a:r>
              <a:rPr lang="en-GB" dirty="0"/>
              <a:t> </a:t>
            </a:r>
            <a:r>
              <a:rPr lang="en-GB" dirty="0" err="1"/>
              <a:t>Tilastokeskukselta</a:t>
            </a:r>
            <a:r>
              <a:rPr lang="en-GB" dirty="0"/>
              <a:t> </a:t>
            </a:r>
            <a:r>
              <a:rPr lang="en-GB" dirty="0" err="1"/>
              <a:t>pyyntönä</a:t>
            </a:r>
            <a:r>
              <a:rPr lang="en-GB" dirty="0"/>
              <a:t> (</a:t>
            </a:r>
            <a:r>
              <a:rPr lang="en-GB" dirty="0" err="1"/>
              <a:t>kunnat</a:t>
            </a:r>
            <a:r>
              <a:rPr lang="en-GB" dirty="0"/>
              <a:t>).</a:t>
            </a:r>
            <a:endParaRPr lang="en-FI" dirty="0"/>
          </a:p>
          <a:p>
            <a:pPr fontAlgn="b"/>
            <a:r>
              <a:rPr lang="en-GB" dirty="0" err="1"/>
              <a:t>Kerroin</a:t>
            </a:r>
            <a:r>
              <a:rPr lang="en-GB" dirty="0"/>
              <a:t> 1000 </a:t>
            </a:r>
            <a:r>
              <a:rPr lang="en-GB" dirty="0" err="1"/>
              <a:t>asukasta</a:t>
            </a:r>
            <a:r>
              <a:rPr lang="en-GB" dirty="0"/>
              <a:t> </a:t>
            </a:r>
            <a:r>
              <a:rPr lang="en-GB" dirty="0" err="1"/>
              <a:t>kohden</a:t>
            </a:r>
            <a:r>
              <a:rPr lang="en-GB" dirty="0"/>
              <a:t>.</a:t>
            </a:r>
          </a:p>
          <a:p>
            <a:pPr fontAlgn="b"/>
            <a:r>
              <a:rPr lang="en-GB" b="1" dirty="0" err="1"/>
              <a:t>hedtyyp</a:t>
            </a:r>
            <a:r>
              <a:rPr lang="en-GB" b="1" dirty="0"/>
              <a:t>=</a:t>
            </a:r>
            <a:r>
              <a:rPr lang="en-GB" b="1" dirty="0" err="1"/>
              <a:t>kvtyyp</a:t>
            </a:r>
            <a:r>
              <a:rPr lang="en-GB" b="1" dirty="0"/>
              <a:t> </a:t>
            </a:r>
            <a:r>
              <a:rPr lang="en-GB" b="1" dirty="0" err="1"/>
              <a:t>ajoissa</a:t>
            </a:r>
            <a:r>
              <a:rPr lang="en-GB" b="1" dirty="0"/>
              <a:t> </a:t>
            </a:r>
            <a:r>
              <a:rPr lang="en-GB" b="1" dirty="0" err="1"/>
              <a:t>eli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sama</a:t>
            </a:r>
            <a:r>
              <a:rPr lang="en-GB" b="1" dirty="0"/>
              <a:t>. </a:t>
            </a:r>
            <a:r>
              <a:rPr lang="en-GB" b="1" dirty="0" err="1"/>
              <a:t>Lisäksi</a:t>
            </a:r>
            <a:r>
              <a:rPr lang="en-GB" b="1" dirty="0"/>
              <a:t> </a:t>
            </a:r>
            <a:r>
              <a:rPr lang="en-GB" b="1" dirty="0" err="1"/>
              <a:t>vuodet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molemmissa</a:t>
            </a:r>
            <a:r>
              <a:rPr lang="en-GB" b="1" dirty="0"/>
              <a:t> Samat </a:t>
            </a:r>
            <a:r>
              <a:rPr lang="en-GB" b="1" dirty="0" err="1"/>
              <a:t>kuin</a:t>
            </a:r>
            <a:r>
              <a:rPr lang="en-GB" b="1" dirty="0"/>
              <a:t> </a:t>
            </a:r>
            <a:r>
              <a:rPr lang="en-GB" b="1" dirty="0" err="1"/>
              <a:t>ajo</a:t>
            </a:r>
            <a:r>
              <a:rPr lang="en-GB" b="1" dirty="0"/>
              <a:t> </a:t>
            </a:r>
            <a:r>
              <a:rPr lang="en-GB" b="1" dirty="0" err="1"/>
              <a:t>ylensä</a:t>
            </a:r>
            <a:endParaRPr lang="en-FI" b="1" dirty="0"/>
          </a:p>
          <a:p>
            <a:pPr fontAlgn="b"/>
            <a:endParaRPr lang="en-FI" dirty="0"/>
          </a:p>
          <a:p>
            <a:r>
              <a:rPr lang="en-GB" dirty="0" err="1">
                <a:solidFill>
                  <a:srgbClr val="FF0000"/>
                </a:solidFill>
              </a:rPr>
              <a:t>Luvut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ovat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esimerkiksi</a:t>
            </a:r>
            <a:endParaRPr lang="en-FI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B9CBD1-3C11-D3CD-DC9C-A5889755CD2E}"/>
              </a:ext>
            </a:extLst>
          </p:cNvPr>
          <p:cNvGraphicFramePr>
            <a:graphicFrameLocks noGrp="1"/>
          </p:cNvGraphicFramePr>
          <p:nvPr/>
        </p:nvGraphicFramePr>
        <p:xfrm>
          <a:off x="1055687" y="1288002"/>
          <a:ext cx="4521200" cy="220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36130253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4701593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27759561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2029421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2214591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6007892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0267990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vuosi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hedtyyp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h15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h16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h17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h18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h19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553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783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651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7827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486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708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968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75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0,89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180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7,99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093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2,65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7,99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839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2035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0,89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2,65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7,99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38250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D1C4CC-C043-9553-6D10-2645B1069C1F}"/>
              </a:ext>
            </a:extLst>
          </p:cNvPr>
          <p:cNvSpPr/>
          <p:nvPr/>
        </p:nvSpPr>
        <p:spPr>
          <a:xfrm>
            <a:off x="7527474" y="165195"/>
            <a:ext cx="732034" cy="399862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A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68025-F84A-8070-61AD-DC00BD29347E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49645D-AD25-1E7C-75E8-9EF2C50599BF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B4D869-5C63-B45B-5998-490E209C4FA5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7D29CF-06DD-D55C-B440-FB4D9A2793F6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78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CD7D-53BF-D14D-1D08-A837D7FC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302D-AC45-5522-0CE0-DE7DCC9F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Kuolemanvaara_2025.xlsx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UTENN.ipynb</a:t>
            </a:r>
            <a:r>
              <a:rPr lang="fi-FI" sz="2000" dirty="0"/>
              <a:t> – uustuotanto)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C602F-7EEB-6530-81B2-8AABD4F6272C}"/>
              </a:ext>
            </a:extLst>
          </p:cNvPr>
          <p:cNvSpPr txBox="1"/>
          <p:nvPr/>
        </p:nvSpPr>
        <p:spPr>
          <a:xfrm>
            <a:off x="1055688" y="3678004"/>
            <a:ext cx="75509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GB" dirty="0" err="1"/>
              <a:t>Hedelmällisyyskertoimet</a:t>
            </a:r>
            <a:r>
              <a:rPr lang="en-GB" dirty="0"/>
              <a:t> </a:t>
            </a:r>
            <a:r>
              <a:rPr lang="en-GB" dirty="0" err="1"/>
              <a:t>excelissä</a:t>
            </a:r>
            <a:r>
              <a:rPr lang="en-GB" dirty="0"/>
              <a:t>, </a:t>
            </a:r>
            <a:r>
              <a:rPr lang="en-GB" dirty="0" err="1"/>
              <a:t>naiset</a:t>
            </a:r>
            <a:r>
              <a:rPr lang="en-GB" dirty="0"/>
              <a:t> 15-49 </a:t>
            </a:r>
            <a:r>
              <a:rPr lang="en-GB" dirty="0" err="1"/>
              <a:t>vuotiaat</a:t>
            </a:r>
            <a:r>
              <a:rPr lang="en-GB" dirty="0"/>
              <a:t>. </a:t>
            </a:r>
            <a:r>
              <a:rPr lang="en-GB" dirty="0" err="1"/>
              <a:t>Tiedostossa</a:t>
            </a:r>
            <a:r>
              <a:rPr lang="en-GB" dirty="0"/>
              <a:t> t</a:t>
            </a:r>
            <a:r>
              <a:rPr lang="fi-FI" dirty="0" err="1"/>
              <a:t>ulee</a:t>
            </a:r>
            <a:r>
              <a:rPr lang="fi-FI" dirty="0"/>
              <a:t> olla sama määrä vuosia kuin</a:t>
            </a:r>
            <a:r>
              <a:rPr lang="en-GB" dirty="0"/>
              <a:t> Alueittainen_asuntotuotanto.xlsx </a:t>
            </a:r>
            <a:r>
              <a:rPr lang="en-GB" dirty="0" err="1"/>
              <a:t>ennustevuosimäärät</a:t>
            </a:r>
            <a:endParaRPr lang="en-FI" dirty="0"/>
          </a:p>
          <a:p>
            <a:pPr fontAlgn="b"/>
            <a:r>
              <a:rPr lang="en-GB" dirty="0" err="1"/>
              <a:t>Kertoimet</a:t>
            </a:r>
            <a:r>
              <a:rPr lang="en-GB" dirty="0"/>
              <a:t> </a:t>
            </a:r>
            <a:r>
              <a:rPr lang="en-GB" dirty="0" err="1"/>
              <a:t>saadaan</a:t>
            </a:r>
            <a:r>
              <a:rPr lang="en-GB" dirty="0"/>
              <a:t> </a:t>
            </a:r>
            <a:r>
              <a:rPr lang="en-GB" dirty="0" err="1"/>
              <a:t>Tilastokeskukselta</a:t>
            </a:r>
            <a:r>
              <a:rPr lang="en-GB" dirty="0"/>
              <a:t> </a:t>
            </a:r>
            <a:r>
              <a:rPr lang="en-GB" dirty="0" err="1"/>
              <a:t>pyyntönä</a:t>
            </a:r>
            <a:r>
              <a:rPr lang="en-GB" dirty="0"/>
              <a:t> (</a:t>
            </a:r>
            <a:r>
              <a:rPr lang="en-GB" dirty="0" err="1"/>
              <a:t>kunnat</a:t>
            </a:r>
            <a:r>
              <a:rPr lang="en-GB" dirty="0"/>
              <a:t>).</a:t>
            </a:r>
            <a:endParaRPr lang="en-FI" dirty="0"/>
          </a:p>
          <a:p>
            <a:pPr fontAlgn="b"/>
            <a:r>
              <a:rPr lang="en-GB" dirty="0" err="1"/>
              <a:t>Kerroin</a:t>
            </a:r>
            <a:r>
              <a:rPr lang="en-GB" dirty="0"/>
              <a:t> 1000 </a:t>
            </a:r>
            <a:r>
              <a:rPr lang="en-GB" dirty="0" err="1"/>
              <a:t>asukasta</a:t>
            </a:r>
            <a:r>
              <a:rPr lang="en-GB" dirty="0"/>
              <a:t> </a:t>
            </a:r>
            <a:r>
              <a:rPr lang="en-GB" dirty="0" err="1"/>
              <a:t>kohden</a:t>
            </a:r>
            <a:r>
              <a:rPr lang="en-GB" dirty="0"/>
              <a:t>.</a:t>
            </a:r>
          </a:p>
          <a:p>
            <a:pPr fontAlgn="b"/>
            <a:endParaRPr lang="en-GB" dirty="0"/>
          </a:p>
          <a:p>
            <a:pPr fontAlgn="b"/>
            <a:r>
              <a:rPr lang="en-GB" b="1" dirty="0" err="1"/>
              <a:t>hedtyyp</a:t>
            </a:r>
            <a:r>
              <a:rPr lang="en-GB" b="1" dirty="0"/>
              <a:t>=</a:t>
            </a:r>
            <a:r>
              <a:rPr lang="en-GB" b="1" dirty="0" err="1"/>
              <a:t>kvtyyp</a:t>
            </a:r>
            <a:r>
              <a:rPr lang="en-GB" b="1" dirty="0"/>
              <a:t> </a:t>
            </a:r>
            <a:r>
              <a:rPr lang="en-GB" b="1" dirty="0" err="1"/>
              <a:t>ajoissa</a:t>
            </a:r>
            <a:r>
              <a:rPr lang="en-GB" b="1" dirty="0"/>
              <a:t> </a:t>
            </a:r>
            <a:r>
              <a:rPr lang="en-GB" b="1" dirty="0" err="1"/>
              <a:t>eli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sama</a:t>
            </a:r>
            <a:r>
              <a:rPr lang="en-GB" b="1" dirty="0"/>
              <a:t>. </a:t>
            </a:r>
            <a:r>
              <a:rPr lang="en-GB" b="1" dirty="0" err="1"/>
              <a:t>Lisäksi</a:t>
            </a:r>
            <a:r>
              <a:rPr lang="en-GB" b="1" dirty="0"/>
              <a:t> </a:t>
            </a:r>
            <a:r>
              <a:rPr lang="en-GB" b="1" dirty="0" err="1"/>
              <a:t>vuodet</a:t>
            </a:r>
            <a:r>
              <a:rPr lang="en-GB" b="1" dirty="0"/>
              <a:t> </a:t>
            </a:r>
            <a:r>
              <a:rPr lang="en-GB" b="1" dirty="0" err="1"/>
              <a:t>tulee</a:t>
            </a:r>
            <a:r>
              <a:rPr lang="en-GB" b="1" dirty="0"/>
              <a:t> olla </a:t>
            </a:r>
            <a:r>
              <a:rPr lang="en-GB" b="1" dirty="0" err="1"/>
              <a:t>molemmissa</a:t>
            </a:r>
            <a:r>
              <a:rPr lang="en-GB" b="1" dirty="0"/>
              <a:t> Samat </a:t>
            </a:r>
            <a:r>
              <a:rPr lang="en-GB" b="1" dirty="0" err="1"/>
              <a:t>kuin</a:t>
            </a:r>
            <a:r>
              <a:rPr lang="en-GB" b="1" dirty="0"/>
              <a:t> </a:t>
            </a:r>
            <a:r>
              <a:rPr lang="en-GB" b="1" dirty="0" err="1"/>
              <a:t>ajo</a:t>
            </a:r>
            <a:r>
              <a:rPr lang="en-GB" b="1" dirty="0"/>
              <a:t> </a:t>
            </a:r>
            <a:r>
              <a:rPr lang="en-GB" b="1" dirty="0" err="1"/>
              <a:t>ylensä</a:t>
            </a:r>
            <a:endParaRPr lang="en-FI" b="1" dirty="0"/>
          </a:p>
          <a:p>
            <a:pPr fontAlgn="b"/>
            <a:endParaRPr lang="en-GB" dirty="0"/>
          </a:p>
          <a:p>
            <a:pPr fontAlgn="b"/>
            <a:endParaRPr lang="en-GB" dirty="0"/>
          </a:p>
          <a:p>
            <a:pPr fontAlgn="b"/>
            <a:r>
              <a:rPr lang="en-GB" dirty="0" err="1">
                <a:solidFill>
                  <a:srgbClr val="FF0000"/>
                </a:solidFill>
              </a:rPr>
              <a:t>Luvut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ovat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esimerkiksi</a:t>
            </a:r>
            <a:endParaRPr lang="en-FI" dirty="0">
              <a:solidFill>
                <a:srgbClr val="FF0000"/>
              </a:solidFill>
            </a:endParaRPr>
          </a:p>
          <a:p>
            <a:pPr fontAlgn="b"/>
            <a:endParaRPr lang="en-FI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538DBE-3237-5413-1976-8EF00CE08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39268"/>
              </p:ext>
            </p:extLst>
          </p:nvPr>
        </p:nvGraphicFramePr>
        <p:xfrm>
          <a:off x="1055688" y="1280573"/>
          <a:ext cx="6774139" cy="220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108">
                  <a:extLst>
                    <a:ext uri="{9D8B030D-6E8A-4147-A177-3AD203B41FA5}">
                      <a16:colId xmlns:a16="http://schemas.microsoft.com/office/drawing/2014/main" val="2463258242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2613755854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3905636695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2250684777"/>
                    </a:ext>
                  </a:extLst>
                </a:gridCol>
                <a:gridCol w="584570">
                  <a:extLst>
                    <a:ext uri="{9D8B030D-6E8A-4147-A177-3AD203B41FA5}">
                      <a16:colId xmlns:a16="http://schemas.microsoft.com/office/drawing/2014/main" val="1416311886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884495481"/>
                    </a:ext>
                  </a:extLst>
                </a:gridCol>
                <a:gridCol w="664805">
                  <a:extLst>
                    <a:ext uri="{9D8B030D-6E8A-4147-A177-3AD203B41FA5}">
                      <a16:colId xmlns:a16="http://schemas.microsoft.com/office/drawing/2014/main" val="3330609841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177801091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4024200721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1389535523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796753177"/>
                    </a:ext>
                  </a:extLst>
                </a:gridCol>
                <a:gridCol w="550184">
                  <a:extLst>
                    <a:ext uri="{9D8B030D-6E8A-4147-A177-3AD203B41FA5}">
                      <a16:colId xmlns:a16="http://schemas.microsoft.com/office/drawing/2014/main" val="28863495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vuosi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kvtyyp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mkvs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mkv0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mkv1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mkv2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mkv3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mkv4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mkv5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mkv6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mkv7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mkv8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813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1591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89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1,4400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060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0,33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8600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11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0,17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0,10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8147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0,10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64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685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0,07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322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2034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0,07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9416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2035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1,4400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24777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22A8B0-F6AE-A82B-6F7A-F6A8A8278F74}"/>
              </a:ext>
            </a:extLst>
          </p:cNvPr>
          <p:cNvSpPr/>
          <p:nvPr/>
        </p:nvSpPr>
        <p:spPr>
          <a:xfrm>
            <a:off x="7532017" y="145511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AE20B7-A669-A620-5CED-6100966DBE20}"/>
              </a:ext>
            </a:extLst>
          </p:cNvPr>
          <p:cNvSpPr/>
          <p:nvPr/>
        </p:nvSpPr>
        <p:spPr>
          <a:xfrm>
            <a:off x="7532017" y="594341"/>
            <a:ext cx="732034" cy="3998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VK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F23EB-E47E-0340-C4CA-99662E9DAA18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AB255B-16A3-42F4-D082-298335668332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568F80-1621-1A24-3DA2-5E09DAEB2439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ECA3D5-9344-F4CC-7F6F-EAA892CFBBF5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81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D0CF-E04B-7E13-66A0-B79A877A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7B3F-7D2D-0DDA-2E22-2A03650A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Jäljellejäämiskerroin.xlsx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UTENN.ipynb</a:t>
            </a:r>
            <a:r>
              <a:rPr lang="fi-FI" sz="2000" dirty="0"/>
              <a:t> – uustuotanto)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596AA-19A8-5B58-5E76-911469CDD465}"/>
              </a:ext>
            </a:extLst>
          </p:cNvPr>
          <p:cNvSpPr txBox="1"/>
          <p:nvPr/>
        </p:nvSpPr>
        <p:spPr>
          <a:xfrm>
            <a:off x="1055688" y="2815348"/>
            <a:ext cx="743786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Jäljellejäämiskerroin</a:t>
            </a:r>
            <a:r>
              <a:rPr lang="en-GB" sz="1400" dirty="0"/>
              <a:t> - </a:t>
            </a:r>
            <a:r>
              <a:rPr lang="fi-FI" sz="1400" dirty="0" err="1"/>
              <a:t>Jjk</a:t>
            </a:r>
            <a:r>
              <a:rPr lang="fi-FI" sz="1400" dirty="0"/>
              <a:t> kuvaa sitä, kuinka suuri osuus ikäryhmän i asukkaista vuonna t asuu samalla alueella ja samassa rakennustyypissä i+1 ikäisinä vuonna t+1. Jos </a:t>
            </a:r>
            <a:r>
              <a:rPr lang="fi-FI" sz="1400" dirty="0" err="1"/>
              <a:t>jjk</a:t>
            </a:r>
            <a:r>
              <a:rPr lang="fi-FI" sz="1400" dirty="0"/>
              <a:t>=1, ko. ryhmän asukkaiden määrässä ei tapahdu muutosta. Jos </a:t>
            </a:r>
            <a:r>
              <a:rPr lang="fi-FI" sz="1400" dirty="0" err="1"/>
              <a:t>jjk</a:t>
            </a:r>
            <a:r>
              <a:rPr lang="fi-FI" sz="1400" dirty="0"/>
              <a:t>&lt;1, määrä vähenee negatiivisen nettomuuton (ja kuolemanvaaran) seurauksena, esimerkkinä nuorten aikuisten poismuutto omakotitaloista. Jos </a:t>
            </a:r>
            <a:r>
              <a:rPr lang="fi-FI" sz="1400" dirty="0" err="1"/>
              <a:t>jjk</a:t>
            </a:r>
            <a:r>
              <a:rPr lang="fi-FI" sz="1400" dirty="0"/>
              <a:t>&gt;1 määrä kasvaa positiivisen nettomuuton seurauksena, esimerkkinä nuorten aikuisten tulomuutto pienasuntovaltaisiin kerrostaloihin.</a:t>
            </a:r>
          </a:p>
          <a:p>
            <a:endParaRPr lang="fi-FI" sz="1400" dirty="0"/>
          </a:p>
          <a:p>
            <a:r>
              <a:rPr lang="fi-FI" sz="1400" dirty="0"/>
              <a:t>jj0 – jj99-vuotiaat </a:t>
            </a:r>
          </a:p>
          <a:p>
            <a:endParaRPr lang="fi-FI" sz="1400" dirty="0"/>
          </a:p>
          <a:p>
            <a:r>
              <a:rPr lang="en-GB" sz="1400" dirty="0" err="1">
                <a:solidFill>
                  <a:srgbClr val="FF0000"/>
                </a:solidFill>
              </a:rPr>
              <a:t>Luvut</a:t>
            </a:r>
            <a:r>
              <a:rPr lang="en-GB" sz="1400" dirty="0">
                <a:solidFill>
                  <a:srgbClr val="FF0000"/>
                </a:solidFill>
              </a:rPr>
              <a:t> </a:t>
            </a:r>
            <a:r>
              <a:rPr lang="en-GB" sz="1400" dirty="0" err="1">
                <a:solidFill>
                  <a:srgbClr val="FF0000"/>
                </a:solidFill>
              </a:rPr>
              <a:t>ovat</a:t>
            </a:r>
            <a:r>
              <a:rPr lang="en-GB" sz="1400" dirty="0">
                <a:solidFill>
                  <a:srgbClr val="FF0000"/>
                </a:solidFill>
              </a:rPr>
              <a:t> </a:t>
            </a:r>
            <a:r>
              <a:rPr lang="en-GB" sz="1400" dirty="0" err="1">
                <a:solidFill>
                  <a:srgbClr val="FF0000"/>
                </a:solidFill>
              </a:rPr>
              <a:t>esimerkiksi</a:t>
            </a:r>
            <a:endParaRPr lang="en-FI" sz="1400" dirty="0">
              <a:solidFill>
                <a:srgbClr val="FF0000"/>
              </a:solidFill>
            </a:endParaRPr>
          </a:p>
          <a:p>
            <a:endParaRPr lang="en-FI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31134B-C623-B2E8-1875-0E0322DAE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27843"/>
              </p:ext>
            </p:extLst>
          </p:nvPr>
        </p:nvGraphicFramePr>
        <p:xfrm>
          <a:off x="1055688" y="1304925"/>
          <a:ext cx="8738652" cy="869950"/>
        </p:xfrm>
        <a:graphic>
          <a:graphicData uri="http://schemas.openxmlformats.org/drawingml/2006/table">
            <a:tbl>
              <a:tblPr/>
              <a:tblGrid>
                <a:gridCol w="682085">
                  <a:extLst>
                    <a:ext uri="{9D8B030D-6E8A-4147-A177-3AD203B41FA5}">
                      <a16:colId xmlns:a16="http://schemas.microsoft.com/office/drawing/2014/main" val="2389909429"/>
                    </a:ext>
                  </a:extLst>
                </a:gridCol>
                <a:gridCol w="1032893">
                  <a:extLst>
                    <a:ext uri="{9D8B030D-6E8A-4147-A177-3AD203B41FA5}">
                      <a16:colId xmlns:a16="http://schemas.microsoft.com/office/drawing/2014/main" val="796559719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2701319653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2689879434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3733854244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877388095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1258418378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182080089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1163057447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3789106677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347422500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4230096935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3486580055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2381464512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780077898"/>
                    </a:ext>
                  </a:extLst>
                </a:gridCol>
                <a:gridCol w="501691">
                  <a:extLst>
                    <a:ext uri="{9D8B030D-6E8A-4147-A177-3AD203B41FA5}">
                      <a16:colId xmlns:a16="http://schemas.microsoft.com/office/drawing/2014/main" val="2867210927"/>
                    </a:ext>
                  </a:extLst>
                </a:gridCol>
              </a:tblGrid>
              <a:tr h="1465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Tyyppi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Tyyppi_nimi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jj13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790412"/>
                  </a:ext>
                </a:extLst>
              </a:tr>
              <a:tr h="132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OK-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13754"/>
                  </a:ext>
                </a:extLst>
              </a:tr>
              <a:tr h="1465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Paritalo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381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Rivitalo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846506"/>
                  </a:ext>
                </a:extLst>
              </a:tr>
              <a:tr h="1465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Kerrostalo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50995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87ED25-E0BA-627B-12B9-1D8A5E4F1AFE}"/>
              </a:ext>
            </a:extLst>
          </p:cNvPr>
          <p:cNvSpPr/>
          <p:nvPr/>
        </p:nvSpPr>
        <p:spPr>
          <a:xfrm>
            <a:off x="7528727" y="137466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F7BC2-AE32-64FB-1268-CFB7CEBCDB73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78329A-F7CC-B71D-91FC-28D4417D2935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BC85CD-CF31-9EBE-C52A-3F3EBCE50BE8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723293-462C-9388-7505-ED7A0BC353D7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6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1A10-C9FF-6B4A-49CF-509B7720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A086-3088-8A89-AE52-DEFF2267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Asuntotuotanto_parametrit.xlsx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UTENN.ipynb</a:t>
            </a:r>
            <a:r>
              <a:rPr lang="fi-FI" sz="2000" dirty="0"/>
              <a:t> – uustuotanto)</a:t>
            </a:r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58A600-05BA-7637-CB6A-B2FB514C4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15083"/>
              </p:ext>
            </p:extLst>
          </p:nvPr>
        </p:nvGraphicFramePr>
        <p:xfrm>
          <a:off x="1055687" y="1270475"/>
          <a:ext cx="9040420" cy="113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6825">
                  <a:extLst>
                    <a:ext uri="{9D8B030D-6E8A-4147-A177-3AD203B41FA5}">
                      <a16:colId xmlns:a16="http://schemas.microsoft.com/office/drawing/2014/main" val="1189377654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2949719738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2164087853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2604090418"/>
                    </a:ext>
                  </a:extLst>
                </a:gridCol>
                <a:gridCol w="807997">
                  <a:extLst>
                    <a:ext uri="{9D8B030D-6E8A-4147-A177-3AD203B41FA5}">
                      <a16:colId xmlns:a16="http://schemas.microsoft.com/office/drawing/2014/main" val="3131521482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3094333787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68415572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1719191179"/>
                    </a:ext>
                  </a:extLst>
                </a:gridCol>
                <a:gridCol w="670790">
                  <a:extLst>
                    <a:ext uri="{9D8B030D-6E8A-4147-A177-3AD203B41FA5}">
                      <a16:colId xmlns:a16="http://schemas.microsoft.com/office/drawing/2014/main" val="3508842626"/>
                    </a:ext>
                  </a:extLst>
                </a:gridCol>
                <a:gridCol w="716526">
                  <a:extLst>
                    <a:ext uri="{9D8B030D-6E8A-4147-A177-3AD203B41FA5}">
                      <a16:colId xmlns:a16="http://schemas.microsoft.com/office/drawing/2014/main" val="2009459362"/>
                    </a:ext>
                  </a:extLst>
                </a:gridCol>
                <a:gridCol w="731771">
                  <a:extLst>
                    <a:ext uri="{9D8B030D-6E8A-4147-A177-3AD203B41FA5}">
                      <a16:colId xmlns:a16="http://schemas.microsoft.com/office/drawing/2014/main" val="3247398535"/>
                    </a:ext>
                  </a:extLst>
                </a:gridCol>
                <a:gridCol w="731771">
                  <a:extLst>
                    <a:ext uri="{9D8B030D-6E8A-4147-A177-3AD203B41FA5}">
                      <a16:colId xmlns:a16="http://schemas.microsoft.com/office/drawing/2014/main" val="3851241853"/>
                    </a:ext>
                  </a:extLst>
                </a:gridCol>
              </a:tblGrid>
              <a:tr h="3629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Rakennustyypin</a:t>
                      </a:r>
                      <a:r>
                        <a:rPr lang="en-GB" sz="1000" b="1" u="none" strike="noStrike" dirty="0">
                          <a:effectLst/>
                        </a:rPr>
                        <a:t> </a:t>
                      </a:r>
                      <a:r>
                        <a:rPr lang="en-GB" sz="1000" b="1" u="none" strike="noStrike" dirty="0" err="1">
                          <a:effectLst/>
                        </a:rPr>
                        <a:t>nimi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Tyyppi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alkuvalj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tyhos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muuttotyyp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hedtyyp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hedero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kvtyyp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kvero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min0_4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max0_4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min5_9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416293"/>
                  </a:ext>
                </a:extLst>
              </a:tr>
              <a:tr h="192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>
                          <a:effectLst/>
                        </a:rPr>
                        <a:t>OK-</a:t>
                      </a:r>
                      <a:r>
                        <a:rPr lang="en-GB" sz="1000" u="none" strike="noStrike" dirty="0" err="1">
                          <a:effectLst/>
                        </a:rPr>
                        <a:t>talo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45,0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09590"/>
                  </a:ext>
                </a:extLst>
              </a:tr>
              <a:tr h="192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Paritalo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43,0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055099"/>
                  </a:ext>
                </a:extLst>
              </a:tr>
              <a:tr h="192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Rivitalo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42,0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780125"/>
                  </a:ext>
                </a:extLst>
              </a:tr>
              <a:tr h="192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Kerrostalo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39,5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503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7C55E0-1C5E-02CC-48B5-3D87C698ED6B}"/>
              </a:ext>
            </a:extLst>
          </p:cNvPr>
          <p:cNvSpPr txBox="1"/>
          <p:nvPr/>
        </p:nvSpPr>
        <p:spPr>
          <a:xfrm>
            <a:off x="1055687" y="2720581"/>
            <a:ext cx="81882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b="1" dirty="0" err="1"/>
              <a:t>Uustuotannon</a:t>
            </a:r>
            <a:r>
              <a:rPr lang="en-FI" b="1" dirty="0"/>
              <a:t> </a:t>
            </a:r>
            <a:r>
              <a:rPr lang="en-FI" b="1" dirty="0" err="1"/>
              <a:t>tyyppien</a:t>
            </a:r>
            <a:r>
              <a:rPr lang="en-FI" b="1" dirty="0"/>
              <a:t> </a:t>
            </a:r>
            <a:r>
              <a:rPr lang="en-FI" b="1" dirty="0" err="1"/>
              <a:t>parametrit</a:t>
            </a:r>
            <a:r>
              <a:rPr lang="en-GB" b="1" dirty="0"/>
              <a:t>:</a:t>
            </a:r>
            <a:endParaRPr lang="en-FI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Tyyppi</a:t>
            </a:r>
            <a:r>
              <a:rPr lang="en-FI" sz="1200" dirty="0"/>
              <a:t>: </a:t>
            </a:r>
            <a:r>
              <a:rPr lang="en-FI" sz="1200" dirty="0" err="1"/>
              <a:t>Uustuotannon</a:t>
            </a:r>
            <a:r>
              <a:rPr lang="en-FI" sz="1200" dirty="0"/>
              <a:t> </a:t>
            </a:r>
            <a:r>
              <a:rPr lang="en-FI" sz="1200" dirty="0" err="1"/>
              <a:t>rakennustyypin</a:t>
            </a:r>
            <a:r>
              <a:rPr lang="en-FI" sz="1200" dirty="0"/>
              <a:t> </a:t>
            </a:r>
            <a:r>
              <a:rPr lang="en-FI" sz="1200" dirty="0" err="1"/>
              <a:t>koodi</a:t>
            </a:r>
            <a:endParaRPr lang="en-FI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b="1" dirty="0" err="1"/>
              <a:t>Alkuvalj</a:t>
            </a:r>
            <a:r>
              <a:rPr lang="en-FI" sz="1200" b="1" dirty="0"/>
              <a:t>: kem2/</a:t>
            </a:r>
            <a:r>
              <a:rPr lang="en-FI" sz="1200" b="1" dirty="0" err="1"/>
              <a:t>asukas</a:t>
            </a:r>
            <a:r>
              <a:rPr lang="en-FI" sz="1200" b="1" dirty="0"/>
              <a:t> </a:t>
            </a:r>
            <a:r>
              <a:rPr lang="en-FI" sz="1200" b="1" dirty="0" err="1"/>
              <a:t>valm.v:n</a:t>
            </a:r>
            <a:r>
              <a:rPr lang="en-FI" sz="1200" b="1" dirty="0"/>
              <a:t> </a:t>
            </a:r>
            <a:r>
              <a:rPr lang="en-FI" sz="1200" b="1" dirty="0" err="1"/>
              <a:t>lopussa</a:t>
            </a:r>
            <a:endParaRPr lang="en-FI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b="1" dirty="0" err="1"/>
              <a:t>Tyhos</a:t>
            </a:r>
            <a:r>
              <a:rPr lang="en-FI" sz="1200" b="1" dirty="0"/>
              <a:t>: Ei-</a:t>
            </a:r>
            <a:r>
              <a:rPr lang="en-FI" sz="1200" b="1" dirty="0" err="1"/>
              <a:t>vakit</a:t>
            </a:r>
            <a:r>
              <a:rPr lang="en-FI" sz="1200" b="1" dirty="0"/>
              <a:t>-</a:t>
            </a:r>
            <a:r>
              <a:rPr lang="en-FI" sz="1200" b="1" dirty="0" err="1"/>
              <a:t>asuttujen</a:t>
            </a:r>
            <a:r>
              <a:rPr lang="en-FI" sz="1200" b="1" dirty="0"/>
              <a:t> </a:t>
            </a:r>
            <a:r>
              <a:rPr lang="en-FI" sz="1200" b="1" dirty="0" err="1"/>
              <a:t>osuus</a:t>
            </a:r>
            <a:r>
              <a:rPr lang="en-FI" sz="1200" b="1" dirty="0"/>
              <a:t> (%) </a:t>
            </a:r>
            <a:r>
              <a:rPr lang="en-FI" sz="1200" b="1" dirty="0" err="1"/>
              <a:t>kerrosalasta</a:t>
            </a:r>
            <a:r>
              <a:rPr lang="en-FI" sz="1200" b="1" dirty="0"/>
              <a:t> </a:t>
            </a:r>
            <a:r>
              <a:rPr lang="en-FI" sz="1200" b="1" dirty="0" err="1"/>
              <a:t>rakent.vuoden</a:t>
            </a:r>
            <a:r>
              <a:rPr lang="en-FI" sz="1200" b="1" dirty="0"/>
              <a:t> </a:t>
            </a:r>
            <a:r>
              <a:rPr lang="en-FI" sz="1200" b="1" dirty="0" err="1"/>
              <a:t>lopussa</a:t>
            </a:r>
            <a:r>
              <a:rPr lang="en-FI" sz="12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Tmosuus</a:t>
            </a:r>
            <a:r>
              <a:rPr lang="en-FI" sz="1200" dirty="0"/>
              <a:t>: </a:t>
            </a:r>
            <a:r>
              <a:rPr lang="en-FI" sz="1200" dirty="0" err="1"/>
              <a:t>tulomuuttajia</a:t>
            </a:r>
            <a:r>
              <a:rPr lang="en-FI" sz="1200" dirty="0"/>
              <a:t> </a:t>
            </a:r>
            <a:r>
              <a:rPr lang="en-FI" sz="1200" dirty="0" err="1"/>
              <a:t>suhteessa</a:t>
            </a:r>
            <a:r>
              <a:rPr lang="en-FI" sz="1200" dirty="0"/>
              <a:t> </a:t>
            </a:r>
            <a:r>
              <a:rPr lang="en-FI" sz="1200" dirty="0" err="1"/>
              <a:t>ed.v</a:t>
            </a:r>
            <a:r>
              <a:rPr lang="en-FI" sz="1200" dirty="0"/>
              <a:t>. </a:t>
            </a:r>
            <a:r>
              <a:rPr lang="en-FI" sz="1200" dirty="0" err="1"/>
              <a:t>asukasmäärään</a:t>
            </a:r>
            <a:endParaRPr lang="en-FI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Lmosuus</a:t>
            </a:r>
            <a:r>
              <a:rPr lang="en-FI" sz="1200" dirty="0"/>
              <a:t>: </a:t>
            </a:r>
            <a:r>
              <a:rPr lang="en-FI" sz="1200" dirty="0" err="1"/>
              <a:t>lähtömuuttajia</a:t>
            </a:r>
            <a:r>
              <a:rPr lang="en-FI" sz="1200" dirty="0"/>
              <a:t> </a:t>
            </a:r>
            <a:r>
              <a:rPr lang="en-FI" sz="1200" dirty="0" err="1"/>
              <a:t>suhteessa</a:t>
            </a:r>
            <a:r>
              <a:rPr lang="en-FI" sz="1200" dirty="0"/>
              <a:t> </a:t>
            </a:r>
            <a:r>
              <a:rPr lang="en-FI" sz="1200" dirty="0" err="1"/>
              <a:t>ed.v</a:t>
            </a:r>
            <a:r>
              <a:rPr lang="en-FI" sz="1200" dirty="0"/>
              <a:t>. </a:t>
            </a:r>
            <a:r>
              <a:rPr lang="en-FI" sz="1200" dirty="0" err="1"/>
              <a:t>asukasmäärään</a:t>
            </a:r>
            <a:endParaRPr lang="en-FI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b="1" dirty="0" err="1"/>
              <a:t>Muuttotyyp</a:t>
            </a:r>
            <a:r>
              <a:rPr lang="en-FI" sz="1200" b="1" dirty="0"/>
              <a:t>: </a:t>
            </a:r>
            <a:r>
              <a:rPr lang="en-FI" sz="1200" b="1" dirty="0" err="1"/>
              <a:t>muuttotyypin</a:t>
            </a:r>
            <a:r>
              <a:rPr lang="en-FI" sz="1200" b="1" dirty="0"/>
              <a:t> </a:t>
            </a:r>
            <a:r>
              <a:rPr lang="en-FI" sz="1200" b="1" dirty="0" err="1"/>
              <a:t>koodi</a:t>
            </a:r>
            <a:r>
              <a:rPr lang="en-FI" sz="1200" b="1" dirty="0"/>
              <a:t> </a:t>
            </a:r>
            <a:r>
              <a:rPr lang="en-FI" sz="1200" b="1" dirty="0" err="1"/>
              <a:t>taulusta</a:t>
            </a:r>
            <a:r>
              <a:rPr lang="en-FI" sz="1200" b="1" dirty="0"/>
              <a:t> </a:t>
            </a:r>
            <a:r>
              <a:rPr lang="en-GB" sz="1200" b="1" dirty="0" err="1"/>
              <a:t>Vanhakanta_muutto</a:t>
            </a:r>
            <a:r>
              <a:rPr lang="en-FI" sz="1200" b="1" dirty="0"/>
              <a:t>.xlsx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Hedtyyp</a:t>
            </a:r>
            <a:r>
              <a:rPr lang="en-FI" sz="1200" dirty="0"/>
              <a:t>: </a:t>
            </a:r>
            <a:r>
              <a:rPr lang="en-FI" sz="1200" dirty="0" err="1"/>
              <a:t>hedelm</a:t>
            </a:r>
            <a:r>
              <a:rPr lang="en-FI" sz="1200" dirty="0"/>
              <a:t>. </a:t>
            </a:r>
            <a:r>
              <a:rPr lang="en-FI" sz="1200" dirty="0" err="1"/>
              <a:t>Tyyppikoodi</a:t>
            </a:r>
            <a:r>
              <a:rPr lang="en-FI" sz="1200" dirty="0"/>
              <a:t> (</a:t>
            </a:r>
            <a:r>
              <a:rPr lang="en-FI" sz="1200" dirty="0" err="1"/>
              <a:t>hed-taulusta</a:t>
            </a:r>
            <a:r>
              <a:rPr lang="en-FI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Hedero</a:t>
            </a:r>
            <a:r>
              <a:rPr lang="en-FI" sz="1200" dirty="0"/>
              <a:t>: </a:t>
            </a:r>
            <a:r>
              <a:rPr lang="en-FI" sz="1200" dirty="0" err="1"/>
              <a:t>hedelm</a:t>
            </a:r>
            <a:r>
              <a:rPr lang="en-FI" sz="1200" dirty="0"/>
              <a:t>. </a:t>
            </a:r>
            <a:r>
              <a:rPr lang="en-FI" sz="1200" dirty="0" err="1"/>
              <a:t>Poikkeama</a:t>
            </a:r>
            <a:r>
              <a:rPr lang="en-FI" sz="1200" dirty="0"/>
              <a:t> % (+/-) </a:t>
            </a:r>
            <a:r>
              <a:rPr lang="en-FI" sz="1200" dirty="0" err="1"/>
              <a:t>tyyppiryhmän</a:t>
            </a:r>
            <a:r>
              <a:rPr lang="en-FI" sz="1200" dirty="0"/>
              <a:t> </a:t>
            </a:r>
            <a:r>
              <a:rPr lang="en-FI" sz="1200" dirty="0" err="1"/>
              <a:t>arvoista</a:t>
            </a:r>
            <a:r>
              <a:rPr lang="en-FI" sz="1200" dirty="0"/>
              <a:t> (</a:t>
            </a:r>
            <a:r>
              <a:rPr lang="en-FI" sz="1200" dirty="0" err="1"/>
              <a:t>kaikki</a:t>
            </a:r>
            <a:r>
              <a:rPr lang="en-FI" sz="1200" dirty="0"/>
              <a:t> </a:t>
            </a:r>
            <a:r>
              <a:rPr lang="en-FI" sz="1200" dirty="0" err="1"/>
              <a:t>ikäryhmät</a:t>
            </a:r>
            <a:r>
              <a:rPr lang="en-FI" sz="1200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KVtyyp</a:t>
            </a:r>
            <a:r>
              <a:rPr lang="en-FI" sz="1200" dirty="0"/>
              <a:t>: </a:t>
            </a:r>
            <a:r>
              <a:rPr lang="en-FI" sz="1200" dirty="0" err="1"/>
              <a:t>kuolemanvaaran</a:t>
            </a:r>
            <a:r>
              <a:rPr lang="en-FI" sz="1200" dirty="0"/>
              <a:t> </a:t>
            </a:r>
            <a:r>
              <a:rPr lang="en-FI" sz="1200" dirty="0" err="1"/>
              <a:t>tyyppikoodi</a:t>
            </a:r>
            <a:r>
              <a:rPr lang="en-FI" sz="1200" dirty="0"/>
              <a:t> (KV-</a:t>
            </a:r>
            <a:r>
              <a:rPr lang="en-FI" sz="1200" dirty="0" err="1"/>
              <a:t>taulusta</a:t>
            </a:r>
            <a:r>
              <a:rPr lang="en-FI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KVero</a:t>
            </a:r>
            <a:r>
              <a:rPr lang="en-FI" sz="1200" dirty="0"/>
              <a:t>: </a:t>
            </a:r>
            <a:r>
              <a:rPr lang="en-FI" sz="1200" dirty="0" err="1"/>
              <a:t>kuolemanvaaran</a:t>
            </a:r>
            <a:r>
              <a:rPr lang="en-FI" sz="1200" dirty="0"/>
              <a:t> </a:t>
            </a:r>
            <a:r>
              <a:rPr lang="en-FI" sz="1200" dirty="0" err="1"/>
              <a:t>poikkeama</a:t>
            </a:r>
            <a:r>
              <a:rPr lang="en-FI" sz="1200" dirty="0"/>
              <a:t> % (+/-) </a:t>
            </a:r>
            <a:r>
              <a:rPr lang="en-FI" sz="1200" dirty="0" err="1"/>
              <a:t>tyyppiryhmästä</a:t>
            </a:r>
            <a:r>
              <a:rPr lang="en-FI" sz="1200" dirty="0"/>
              <a:t> (KV-</a:t>
            </a:r>
            <a:r>
              <a:rPr lang="en-FI" sz="1200" dirty="0" err="1"/>
              <a:t>taulusta</a:t>
            </a:r>
            <a:r>
              <a:rPr lang="en-FI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minvv_vv</a:t>
            </a:r>
            <a:r>
              <a:rPr lang="en-FI" sz="1200" dirty="0"/>
              <a:t>: </a:t>
            </a:r>
            <a:r>
              <a:rPr lang="en-FI" sz="1200" dirty="0" err="1"/>
              <a:t>ikäryhmän</a:t>
            </a:r>
            <a:r>
              <a:rPr lang="en-FI" sz="1200" dirty="0"/>
              <a:t> </a:t>
            </a:r>
            <a:r>
              <a:rPr lang="en-FI" sz="1200" dirty="0" err="1"/>
              <a:t>väestöosuuden</a:t>
            </a:r>
            <a:r>
              <a:rPr lang="en-FI" sz="1200" dirty="0"/>
              <a:t> </a:t>
            </a:r>
            <a:r>
              <a:rPr lang="en-FI" sz="1200" dirty="0" err="1"/>
              <a:t>minimi</a:t>
            </a:r>
            <a:endParaRPr lang="en-FI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 err="1"/>
              <a:t>maxvv_vv</a:t>
            </a:r>
            <a:r>
              <a:rPr lang="en-FI" sz="1200" dirty="0"/>
              <a:t>: </a:t>
            </a:r>
            <a:r>
              <a:rPr lang="en-FI" sz="1200" dirty="0" err="1"/>
              <a:t>ikäryhmän</a:t>
            </a:r>
            <a:r>
              <a:rPr lang="en-FI" sz="1200" dirty="0"/>
              <a:t> </a:t>
            </a:r>
            <a:r>
              <a:rPr lang="en-FI" sz="1200" dirty="0" err="1"/>
              <a:t>väestöosuuden</a:t>
            </a:r>
            <a:r>
              <a:rPr lang="en-FI" sz="1200" dirty="0"/>
              <a:t> </a:t>
            </a:r>
            <a:r>
              <a:rPr lang="en-FI" sz="1200" dirty="0" err="1"/>
              <a:t>maksimi</a:t>
            </a:r>
            <a:endParaRPr lang="en-FI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FI" sz="1200" dirty="0"/>
              <a:t>Huom. Jos </a:t>
            </a:r>
            <a:r>
              <a:rPr lang="en-FI" sz="1200" dirty="0" err="1"/>
              <a:t>tmosuus</a:t>
            </a:r>
            <a:r>
              <a:rPr lang="en-FI" sz="1200" dirty="0"/>
              <a:t>=</a:t>
            </a:r>
            <a:r>
              <a:rPr lang="en-FI" sz="1200" dirty="0" err="1"/>
              <a:t>lmosuus</a:t>
            </a:r>
            <a:r>
              <a:rPr lang="en-FI" sz="1200" dirty="0"/>
              <a:t>=0, </a:t>
            </a:r>
            <a:r>
              <a:rPr lang="en-FI" sz="1200" dirty="0" err="1"/>
              <a:t>lähtövuoden</a:t>
            </a:r>
            <a:r>
              <a:rPr lang="en-FI" sz="1200" dirty="0"/>
              <a:t> </a:t>
            </a:r>
            <a:r>
              <a:rPr lang="en-FI" sz="1200" dirty="0" err="1"/>
              <a:t>ikärakenne</a:t>
            </a:r>
            <a:r>
              <a:rPr lang="en-FI" sz="1200" dirty="0"/>
              <a:t> </a:t>
            </a:r>
            <a:r>
              <a:rPr lang="en-FI" sz="1200" dirty="0" err="1"/>
              <a:t>vakioidaan</a:t>
            </a:r>
            <a:r>
              <a:rPr lang="en-FI" sz="1200" dirty="0"/>
              <a:t> </a:t>
            </a:r>
            <a:r>
              <a:rPr lang="en-FI" sz="1200" dirty="0" err="1"/>
              <a:t>koko</a:t>
            </a:r>
            <a:r>
              <a:rPr lang="en-FI" sz="1200" dirty="0"/>
              <a:t> </a:t>
            </a:r>
            <a:r>
              <a:rPr lang="en-FI" sz="1200" dirty="0" err="1"/>
              <a:t>periodin</a:t>
            </a:r>
            <a:r>
              <a:rPr lang="en-FI" sz="1200" dirty="0"/>
              <a:t> </a:t>
            </a:r>
            <a:r>
              <a:rPr lang="en-FI" sz="1200" dirty="0" err="1"/>
              <a:t>ajaksi</a:t>
            </a: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r>
              <a:rPr lang="en-GB" sz="1200" dirty="0" err="1">
                <a:solidFill>
                  <a:srgbClr val="FF0000"/>
                </a:solidFill>
              </a:rPr>
              <a:t>Luvut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ovat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esimerkiksi</a:t>
            </a:r>
            <a:endParaRPr lang="en-FI" sz="1200" dirty="0">
              <a:solidFill>
                <a:srgbClr val="FF0000"/>
              </a:solidFill>
            </a:endParaRPr>
          </a:p>
          <a:p>
            <a:endParaRPr lang="en-FI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6263FA-8D98-EE38-9AED-DBC0758AB3C9}"/>
              </a:ext>
            </a:extLst>
          </p:cNvPr>
          <p:cNvSpPr/>
          <p:nvPr/>
        </p:nvSpPr>
        <p:spPr>
          <a:xfrm>
            <a:off x="7528727" y="137466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FF260-0DAA-5D34-55CE-B5338B0DB82D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E630E6-3BFE-95BB-2866-DE55398C9C6F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54839C-8FF6-D681-84CD-5BAA0C85F63E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373F92-D260-7B5F-6914-B8B5E61DDE83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675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D44C-3B1E-A210-7F3F-75CDDD35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BC25-4A68-66B4-A5CC-ED7D8C54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rmAutofit fontScale="90000"/>
          </a:bodyPr>
          <a:lstStyle/>
          <a:p>
            <a:r>
              <a:rPr lang="fi-FI" sz="3200" dirty="0"/>
              <a:t>Ikäjakauma_rakennus.xlsx</a:t>
            </a:r>
            <a:br>
              <a:rPr lang="fi-FI" sz="3200" dirty="0"/>
            </a:br>
            <a:r>
              <a:rPr lang="fi-FI" sz="3200" dirty="0"/>
              <a:t>(Koodi: </a:t>
            </a:r>
            <a:r>
              <a:rPr lang="fi-FI" sz="3200" dirty="0" err="1"/>
              <a:t>UTENN.ipynb</a:t>
            </a:r>
            <a:r>
              <a:rPr lang="fi-FI" sz="3200" dirty="0"/>
              <a:t> – uustuotanto)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146876-B406-81C9-D71E-61B50718B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39043"/>
              </p:ext>
            </p:extLst>
          </p:nvPr>
        </p:nvGraphicFramePr>
        <p:xfrm>
          <a:off x="1055688" y="1288517"/>
          <a:ext cx="6705600" cy="82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465408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6949868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92004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081682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35736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588560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078782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93339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492709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430322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98946879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Tyyppi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os0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os1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os2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os3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os4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os5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os6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os7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os8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os9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25394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0,0315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0,0315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0,0172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0,0458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0,0602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0,0430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0,0430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0,0258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0354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0,0857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0,0571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0,0714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0,0429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0,0286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0,0143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07712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0,0820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0,0328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0,0328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0,0000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0,0164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718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0,0066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0,0083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0,0066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0,0000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58836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7CF0F-81DB-1063-55C9-2D474E2D0820}"/>
              </a:ext>
            </a:extLst>
          </p:cNvPr>
          <p:cNvSpPr/>
          <p:nvPr/>
        </p:nvSpPr>
        <p:spPr>
          <a:xfrm>
            <a:off x="7528727" y="137466"/>
            <a:ext cx="732034" cy="399862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UT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E6A9C-0508-E12A-7316-18CE8C66278E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2EC40D-338B-A794-4607-158F73748830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CDA54B-AD31-69D3-CFE3-CC585551AD57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4A1927-DEDC-958D-CDB3-C977DA9172A2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1D4F1-F069-E717-1321-938098FB804A}"/>
              </a:ext>
            </a:extLst>
          </p:cNvPr>
          <p:cNvSpPr txBox="1"/>
          <p:nvPr/>
        </p:nvSpPr>
        <p:spPr>
          <a:xfrm>
            <a:off x="1208056" y="342900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Uusien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asuntojen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ikäjakauma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valmistumisvuonna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0-99.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Tyyppi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=</a:t>
            </a:r>
            <a:r>
              <a:rPr lang="en-GB" dirty="0" err="1">
                <a:solidFill>
                  <a:srgbClr val="000000"/>
                </a:solidFill>
                <a:latin typeface="Calibri" panose="020F0502020204030204" pitchFamily="34" charset="0"/>
              </a:rPr>
              <a:t>talotyypit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7F983-C748-29F1-90CF-0586E726FDD6}"/>
              </a:ext>
            </a:extLst>
          </p:cNvPr>
          <p:cNvSpPr txBox="1"/>
          <p:nvPr/>
        </p:nvSpPr>
        <p:spPr>
          <a:xfrm>
            <a:off x="1208056" y="424593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>
                <a:solidFill>
                  <a:srgbClr val="FF0000"/>
                </a:solidFill>
              </a:rPr>
              <a:t>Luvut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 err="1">
                <a:solidFill>
                  <a:srgbClr val="FF0000"/>
                </a:solidFill>
              </a:rPr>
              <a:t>ovat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 err="1">
                <a:solidFill>
                  <a:srgbClr val="FF0000"/>
                </a:solidFill>
              </a:rPr>
              <a:t>esimerkiksi</a:t>
            </a:r>
            <a:endParaRPr lang="en-FI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11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D9A6-54D7-4272-16FC-66A14B599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3EF3-CA83-6CEA-CFFE-97DDDEE6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Vanhakanta_muutto.xlsx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VKENN.ipynb</a:t>
            </a:r>
            <a:r>
              <a:rPr lang="fi-FI" sz="2000" dirty="0"/>
              <a:t> – vanha kanta)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6CCE8-BD6B-E281-D704-35B72EADF8BE}"/>
              </a:ext>
            </a:extLst>
          </p:cNvPr>
          <p:cNvSpPr txBox="1"/>
          <p:nvPr/>
        </p:nvSpPr>
        <p:spPr>
          <a:xfrm>
            <a:off x="1055688" y="3896918"/>
            <a:ext cx="81882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2v </a:t>
            </a:r>
            <a:r>
              <a:rPr lang="en-GB" sz="2000" dirty="0" err="1"/>
              <a:t>keskiarvo</a:t>
            </a:r>
            <a:r>
              <a:rPr lang="en-GB" sz="2000" dirty="0"/>
              <a:t> </a:t>
            </a:r>
            <a:r>
              <a:rPr lang="en-GB" sz="2000" dirty="0" err="1"/>
              <a:t>tulo</a:t>
            </a:r>
            <a:r>
              <a:rPr lang="en-GB" sz="2000" dirty="0"/>
              <a:t>-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lähtömuutto</a:t>
            </a:r>
            <a:r>
              <a:rPr lang="en-GB" sz="2000" dirty="0"/>
              <a:t> per </a:t>
            </a:r>
            <a:r>
              <a:rPr lang="en-GB" sz="2000" dirty="0" err="1"/>
              <a:t>ikäryhmä</a:t>
            </a:r>
            <a:r>
              <a:rPr lang="en-GB" sz="2000" dirty="0"/>
              <a:t>. </a:t>
            </a:r>
            <a:r>
              <a:rPr lang="en-GB" sz="2000" dirty="0" err="1"/>
              <a:t>Keskiarvo</a:t>
            </a:r>
            <a:r>
              <a:rPr lang="en-GB" sz="2000" dirty="0"/>
              <a:t> </a:t>
            </a:r>
            <a:r>
              <a:rPr lang="en-GB" sz="2000" dirty="0" err="1"/>
              <a:t>voidaan</a:t>
            </a:r>
            <a:r>
              <a:rPr lang="en-GB" sz="2000" dirty="0"/>
              <a:t> </a:t>
            </a:r>
            <a:r>
              <a:rPr lang="en-GB" sz="2000" dirty="0" err="1"/>
              <a:t>määritellä</a:t>
            </a:r>
            <a:r>
              <a:rPr lang="en-GB" sz="2000" dirty="0"/>
              <a:t> </a:t>
            </a:r>
            <a:r>
              <a:rPr lang="en-GB" sz="2000" dirty="0" err="1"/>
              <a:t>tarkastelujakson</a:t>
            </a:r>
            <a:r>
              <a:rPr lang="en-GB" sz="2000" dirty="0"/>
              <a:t> </a:t>
            </a:r>
            <a:r>
              <a:rPr lang="en-GB" sz="2000" dirty="0" err="1"/>
              <a:t>mukaan</a:t>
            </a:r>
            <a:r>
              <a:rPr lang="en-GB" sz="2000" dirty="0"/>
              <a:t>.</a:t>
            </a:r>
          </a:p>
          <a:p>
            <a:r>
              <a:rPr lang="en-GB" sz="2000" dirty="0" err="1"/>
              <a:t>Tilastokeskuksen</a:t>
            </a:r>
            <a:r>
              <a:rPr lang="en-GB" sz="2000" dirty="0"/>
              <a:t> </a:t>
            </a:r>
            <a:r>
              <a:rPr lang="en-GB" sz="2000" dirty="0" err="1"/>
              <a:t>muuttotaulusta</a:t>
            </a:r>
            <a:r>
              <a:rPr lang="en-GB" sz="2000" dirty="0"/>
              <a:t> </a:t>
            </a:r>
            <a:r>
              <a:rPr lang="en-GB" sz="2000" dirty="0" err="1"/>
              <a:t>voidaan</a:t>
            </a:r>
            <a:r>
              <a:rPr lang="en-GB" sz="2000" dirty="0"/>
              <a:t> </a:t>
            </a:r>
            <a:r>
              <a:rPr lang="en-GB" sz="2000" dirty="0" err="1"/>
              <a:t>katsoa</a:t>
            </a:r>
            <a:r>
              <a:rPr lang="en-GB" sz="2000" dirty="0"/>
              <a:t> </a:t>
            </a:r>
            <a:r>
              <a:rPr lang="en-GB" sz="2000" dirty="0" err="1"/>
              <a:t>ikäluokittain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jakaa</a:t>
            </a:r>
            <a:r>
              <a:rPr lang="en-GB" sz="2000" dirty="0"/>
              <a:t> per </a:t>
            </a:r>
            <a:r>
              <a:rPr lang="en-GB" sz="2000" dirty="0" err="1"/>
              <a:t>ikäryhmä</a:t>
            </a:r>
            <a:endParaRPr lang="en-GB" sz="2000" dirty="0"/>
          </a:p>
          <a:p>
            <a:endParaRPr lang="en-GB" sz="2000" dirty="0"/>
          </a:p>
          <a:p>
            <a:r>
              <a:rPr lang="fi-FI" sz="2000" b="1" dirty="0"/>
              <a:t>Kuntien välinen muutto muuttujina Osa-alue, Kieli, Sukupuoli, Vuosi, Tiedot ja Ikä 12pj, 12hk Tilastokeskus (viimeisin 23-24 keskiarvo)</a:t>
            </a:r>
            <a:endParaRPr lang="en-FI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207A1-014F-8072-7064-E149E5259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99063"/>
              </p:ext>
            </p:extLst>
          </p:nvPr>
        </p:nvGraphicFramePr>
        <p:xfrm>
          <a:off x="1055688" y="1268413"/>
          <a:ext cx="9144117" cy="2472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8003">
                  <a:extLst>
                    <a:ext uri="{9D8B030D-6E8A-4147-A177-3AD203B41FA5}">
                      <a16:colId xmlns:a16="http://schemas.microsoft.com/office/drawing/2014/main" val="3053705387"/>
                    </a:ext>
                  </a:extLst>
                </a:gridCol>
                <a:gridCol w="904985">
                  <a:extLst>
                    <a:ext uri="{9D8B030D-6E8A-4147-A177-3AD203B41FA5}">
                      <a16:colId xmlns:a16="http://schemas.microsoft.com/office/drawing/2014/main" val="48939608"/>
                    </a:ext>
                  </a:extLst>
                </a:gridCol>
                <a:gridCol w="855051">
                  <a:extLst>
                    <a:ext uri="{9D8B030D-6E8A-4147-A177-3AD203B41FA5}">
                      <a16:colId xmlns:a16="http://schemas.microsoft.com/office/drawing/2014/main" val="3772300876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1868650807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196584815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484534902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2160422796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4078614686"/>
                    </a:ext>
                  </a:extLst>
                </a:gridCol>
                <a:gridCol w="1016013">
                  <a:extLst>
                    <a:ext uri="{9D8B030D-6E8A-4147-A177-3AD203B41FA5}">
                      <a16:colId xmlns:a16="http://schemas.microsoft.com/office/drawing/2014/main" val="2467436044"/>
                    </a:ext>
                  </a:extLst>
                </a:gridCol>
              </a:tblGrid>
              <a:tr h="105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ryhma_nimi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effectLst/>
                        </a:rPr>
                        <a:t>muuttotyyp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tmos0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tmos1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tmos2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>
                          <a:effectLst/>
                        </a:rPr>
                        <a:t>tmos3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tmos4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tmos5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>
                          <a:effectLst/>
                        </a:rPr>
                        <a:t>tmos6</a:t>
                      </a:r>
                      <a:endParaRPr lang="en-GB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05847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Haviseva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0,003821656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0,003821656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0,003821656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0,003821656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0,003821656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0,001528662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0,001528662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1971885"/>
                  </a:ext>
                </a:extLst>
              </a:tr>
              <a:tr h="105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Huutijärvi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0,00244898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0,00244898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0,00244898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0,00244898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0,00244898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0,001632653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0,001632653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4067642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Kuhmalahti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0,002285714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0,002285714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0,002285714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0,002285714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0,002285714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0,002742857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0,002742857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474346"/>
                  </a:ext>
                </a:extLst>
              </a:tr>
              <a:tr h="105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Lamminrahka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0,00232816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0,00232816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0,00232816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0,00232816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0,00232816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0,001396896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0,001396896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57355130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Liuksiala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0,003108108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0,003108108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0,003108108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0,003108108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0,003108108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0,002432432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0,002432432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88054597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Omenatarha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0,002882393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0,002882393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0,002882393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0,002882393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0,002882393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0,001441196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0,001441196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91619065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Ruutana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0,004465116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0,004465116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0,004465116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0,004465116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0,004465116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0,002604651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0,002604651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42283209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Sariola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0,002281879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0,002281879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0,002281879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0,002281879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0,002281879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0,00147651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0,00147651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85335228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Suorama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0,002926829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0,002926829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0,002926829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0,002926829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0,002926829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0,001310105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0,001310105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62714298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Tursola</a:t>
                      </a:r>
                      <a:r>
                        <a:rPr lang="en-GB" sz="1000" u="none" strike="noStrike" dirty="0">
                          <a:effectLst/>
                        </a:rPr>
                        <a:t>-K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0,002986111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0,002986111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0,002986111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0,002986111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0,002986111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0,00125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0,00125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57639329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Tursola</a:t>
                      </a:r>
                      <a:r>
                        <a:rPr lang="en-GB" sz="1000" u="none" strike="noStrike" dirty="0">
                          <a:effectLst/>
                        </a:rPr>
                        <a:t>-S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0,005960784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0,005960784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0,005960784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0,005960784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0,005960784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0,001882353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0,001882353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3966345"/>
                  </a:ext>
                </a:extLst>
              </a:tr>
              <a:tr h="199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Vatiala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0,002701909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0,002701909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0,002701909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0,002701909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0,002701909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0,00133627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0,00133627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8453684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1E4506-5784-AA9E-6372-4EE34805E3EB}"/>
              </a:ext>
            </a:extLst>
          </p:cNvPr>
          <p:cNvSpPr/>
          <p:nvPr/>
        </p:nvSpPr>
        <p:spPr>
          <a:xfrm>
            <a:off x="7516420" y="133215"/>
            <a:ext cx="732034" cy="3998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VK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F93C1-B53B-2BE4-CAA9-094F360DB931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161238-C5FD-CD6A-F879-156203EE5498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433013-E3A1-15C0-580D-560FE8647436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73139F-644A-15E5-CCBB-AEF72CBF82DE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76025F-F1D1-96A5-F49B-551656CE94AD}"/>
              </a:ext>
            </a:extLst>
          </p:cNvPr>
          <p:cNvSpPr txBox="1"/>
          <p:nvPr/>
        </p:nvSpPr>
        <p:spPr>
          <a:xfrm>
            <a:off x="1055688" y="630820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>
                <a:solidFill>
                  <a:srgbClr val="FF0000"/>
                </a:solidFill>
              </a:rPr>
              <a:t>Luvut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 err="1">
                <a:solidFill>
                  <a:srgbClr val="FF0000"/>
                </a:solidFill>
              </a:rPr>
              <a:t>ovat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 err="1">
                <a:solidFill>
                  <a:srgbClr val="FF0000"/>
                </a:solidFill>
              </a:rPr>
              <a:t>esimerkiksi</a:t>
            </a:r>
            <a:endParaRPr lang="en-FI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73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2592-70DE-85A8-310C-0FC9E2AA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340E-5AE8-C24B-124D-1A661109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66723"/>
            <a:ext cx="5873013" cy="1139730"/>
          </a:xfrm>
        </p:spPr>
        <p:txBody>
          <a:bodyPr>
            <a:normAutofit fontScale="90000"/>
          </a:bodyPr>
          <a:lstStyle/>
          <a:p>
            <a:r>
              <a:rPr lang="fi-FI" sz="2000" dirty="0"/>
              <a:t>Vaesto_osa-alueittain_2025.xlsx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VKENN.ipynb</a:t>
            </a:r>
            <a:r>
              <a:rPr lang="fi-FI" sz="2000" dirty="0"/>
              <a:t> – vanha kanta)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SEUDUNENN.ipynb</a:t>
            </a:r>
            <a:r>
              <a:rPr lang="fi-FI" sz="2000" dirty="0"/>
              <a:t> – alue- seututason ennuste)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65A38-145C-D77D-5BD6-17086FA12E92}"/>
              </a:ext>
            </a:extLst>
          </p:cNvPr>
          <p:cNvSpPr txBox="1"/>
          <p:nvPr/>
        </p:nvSpPr>
        <p:spPr>
          <a:xfrm>
            <a:off x="1055688" y="4510746"/>
            <a:ext cx="8188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/>
              <a:t>Väestön</a:t>
            </a:r>
            <a:r>
              <a:rPr lang="en-GB" sz="1200" dirty="0"/>
              <a:t> </a:t>
            </a:r>
            <a:r>
              <a:rPr lang="en-GB" sz="1200" dirty="0" err="1"/>
              <a:t>lähtötilanne</a:t>
            </a:r>
            <a:r>
              <a:rPr lang="en-GB" sz="1200" dirty="0"/>
              <a:t> </a:t>
            </a:r>
            <a:r>
              <a:rPr lang="en-GB" sz="1200" dirty="0" err="1"/>
              <a:t>vuonna</a:t>
            </a:r>
            <a:r>
              <a:rPr lang="en-GB" sz="1200" dirty="0"/>
              <a:t> 1.</a:t>
            </a:r>
            <a:endParaRPr lang="en-FI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6CE7E0-61AD-73F6-66CE-023CE11BE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01246"/>
              </p:ext>
            </p:extLst>
          </p:nvPr>
        </p:nvGraphicFramePr>
        <p:xfrm>
          <a:off x="1055688" y="1943849"/>
          <a:ext cx="7239872" cy="239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026">
                  <a:extLst>
                    <a:ext uri="{9D8B030D-6E8A-4147-A177-3AD203B41FA5}">
                      <a16:colId xmlns:a16="http://schemas.microsoft.com/office/drawing/2014/main" val="2787129082"/>
                    </a:ext>
                  </a:extLst>
                </a:gridCol>
                <a:gridCol w="1792924">
                  <a:extLst>
                    <a:ext uri="{9D8B030D-6E8A-4147-A177-3AD203B41FA5}">
                      <a16:colId xmlns:a16="http://schemas.microsoft.com/office/drawing/2014/main" val="435421838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1158081860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3392226178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3687959850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1863784648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38653127"/>
                    </a:ext>
                  </a:extLst>
                </a:gridCol>
                <a:gridCol w="723987">
                  <a:extLst>
                    <a:ext uri="{9D8B030D-6E8A-4147-A177-3AD203B41FA5}">
                      <a16:colId xmlns:a16="http://schemas.microsoft.com/office/drawing/2014/main" val="221286115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Aluenimi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vuosi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alue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iyht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m0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m1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m2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m3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910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Haviseva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1000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4409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Huutijärvi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3658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4015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Kuhmalahti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869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4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7258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Lamminrahka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2158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12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384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Liuksiala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1546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7793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Omenatarha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5524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122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Ruutana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2025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3069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17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4258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Sariola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2103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6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359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Suorama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5510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29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904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Tursola-K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2415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11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16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9522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Tursola-S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11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1292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10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8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9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6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07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 dirty="0" err="1">
                          <a:effectLst/>
                        </a:rPr>
                        <a:t>Vatiala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2025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12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4805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>
                          <a:effectLst/>
                        </a:rPr>
                        <a:t>33</a:t>
                      </a:r>
                      <a:endParaRPr lang="en-FI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33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30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000" u="none" strike="noStrike" dirty="0">
                          <a:effectLst/>
                        </a:rPr>
                        <a:t>27</a:t>
                      </a:r>
                      <a:endParaRPr lang="en-FI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86602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0C2B67-A130-330B-0BF2-3140912ED13C}"/>
              </a:ext>
            </a:extLst>
          </p:cNvPr>
          <p:cNvSpPr/>
          <p:nvPr/>
        </p:nvSpPr>
        <p:spPr>
          <a:xfrm>
            <a:off x="7563526" y="141772"/>
            <a:ext cx="732034" cy="399862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A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221DB5-41AB-AEAB-6F56-CBFF288CABD7}"/>
              </a:ext>
            </a:extLst>
          </p:cNvPr>
          <p:cNvSpPr/>
          <p:nvPr/>
        </p:nvSpPr>
        <p:spPr>
          <a:xfrm>
            <a:off x="7532017" y="594341"/>
            <a:ext cx="732034" cy="3998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VK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E1AABA-6B64-F6B9-F79F-24B6D283155D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9E2869-AB71-67CD-4895-DC76DF1B22C8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B5261F-30A6-C116-1AB1-DCEAABBAF990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238438-9577-E347-DEEC-E2B44CEAF831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4284F-33EF-FF6A-24B3-632AF40350BC}"/>
              </a:ext>
            </a:extLst>
          </p:cNvPr>
          <p:cNvSpPr txBox="1"/>
          <p:nvPr/>
        </p:nvSpPr>
        <p:spPr>
          <a:xfrm>
            <a:off x="1055688" y="5004475"/>
            <a:ext cx="8188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Lähde: </a:t>
            </a:r>
            <a:r>
              <a:rPr lang="fi-FI" dirty="0"/>
              <a:t>12nh -- Väestö iän (1-v.), sukupuolen ja kielen mukaan kunnan osa-alueittain, 2025 </a:t>
            </a:r>
            <a:r>
              <a:rPr lang="en-GB" dirty="0"/>
              <a:t>(</a:t>
            </a:r>
            <a:r>
              <a:rPr lang="en-GB" dirty="0" err="1"/>
              <a:t>Maksullinen</a:t>
            </a:r>
            <a:r>
              <a:rPr lang="en-GB" dirty="0"/>
              <a:t> </a:t>
            </a:r>
            <a:r>
              <a:rPr lang="en-GB" dirty="0" err="1"/>
              <a:t>tietokanta</a:t>
            </a:r>
            <a:r>
              <a:rPr lang="en-GB" dirty="0"/>
              <a:t>)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4472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9C12-9D38-87C7-9D89-B8DB66C6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02874-DEDD-F21C-25DE-1E37FB307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129686"/>
              </p:ext>
            </p:extLst>
          </p:nvPr>
        </p:nvGraphicFramePr>
        <p:xfrm>
          <a:off x="1055688" y="1296929"/>
          <a:ext cx="6838509" cy="2418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3192">
                  <a:extLst>
                    <a:ext uri="{9D8B030D-6E8A-4147-A177-3AD203B41FA5}">
                      <a16:colId xmlns:a16="http://schemas.microsoft.com/office/drawing/2014/main" val="2346454327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3422513329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3868242550"/>
                    </a:ext>
                  </a:extLst>
                </a:gridCol>
                <a:gridCol w="546755">
                  <a:extLst>
                    <a:ext uri="{9D8B030D-6E8A-4147-A177-3AD203B41FA5}">
                      <a16:colId xmlns:a16="http://schemas.microsoft.com/office/drawing/2014/main" val="2230958471"/>
                    </a:ext>
                  </a:extLst>
                </a:gridCol>
                <a:gridCol w="1159497">
                  <a:extLst>
                    <a:ext uri="{9D8B030D-6E8A-4147-A177-3AD203B41FA5}">
                      <a16:colId xmlns:a16="http://schemas.microsoft.com/office/drawing/2014/main" val="2491174729"/>
                    </a:ext>
                  </a:extLst>
                </a:gridCol>
                <a:gridCol w="743556">
                  <a:extLst>
                    <a:ext uri="{9D8B030D-6E8A-4147-A177-3AD203B41FA5}">
                      <a16:colId xmlns:a16="http://schemas.microsoft.com/office/drawing/2014/main" val="265736758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99877140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24023889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Aluenimi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alue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tmyht</a:t>
                      </a:r>
                      <a:endParaRPr lang="en-GB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lmyht</a:t>
                      </a:r>
                      <a:endParaRPr lang="en-GB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muuttotyyp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hedtyyp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hedero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kvtyyp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23458088"/>
                  </a:ext>
                </a:extLst>
              </a:tr>
              <a:tr h="209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Haviseva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52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43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44047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 err="1">
                          <a:effectLst/>
                        </a:rPr>
                        <a:t>Huutijärvi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2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131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135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2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67614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Kuhmalahti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3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58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61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3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66295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Lamminrahka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601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320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62428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Liuksiala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5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99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86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5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81692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Omenatarha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6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490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416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6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93866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Ruutana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7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143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128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7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34485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Sariola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99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93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458542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Suorama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9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478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443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9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78175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Tursola-K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576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502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1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0,0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6235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Tursola-S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85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86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0,0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13153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 err="1">
                          <a:effectLst/>
                        </a:rPr>
                        <a:t>Vatiala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12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908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730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12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1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>
                          <a:effectLst/>
                        </a:rPr>
                        <a:t>0,0</a:t>
                      </a:r>
                      <a:endParaRPr lang="en-FI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I" sz="1100" u="none" strike="noStrike" dirty="0">
                          <a:effectLst/>
                        </a:rPr>
                        <a:t>1</a:t>
                      </a:r>
                      <a:endParaRPr lang="en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64066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C9F27C-AA64-81F8-D66C-3FAB3BEB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5126"/>
            <a:ext cx="10666048" cy="536610"/>
          </a:xfrm>
        </p:spPr>
        <p:txBody>
          <a:bodyPr>
            <a:noAutofit/>
          </a:bodyPr>
          <a:lstStyle/>
          <a:p>
            <a:r>
              <a:rPr lang="fi-FI" sz="2000" dirty="0"/>
              <a:t>Vanha_rakennuskanta_parametrit.xlsx </a:t>
            </a:r>
            <a:br>
              <a:rPr lang="fi-FI" sz="2000" dirty="0"/>
            </a:br>
            <a:r>
              <a:rPr lang="fi-FI" sz="2000" dirty="0"/>
              <a:t>(Koodi: </a:t>
            </a:r>
            <a:r>
              <a:rPr lang="fi-FI" sz="2000" dirty="0" err="1"/>
              <a:t>VKENN.ipynb</a:t>
            </a:r>
            <a:r>
              <a:rPr lang="fi-FI" sz="2000" dirty="0"/>
              <a:t> – vanha kanta)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7D142-9B1E-BBA9-AE01-58D98493B8F0}"/>
              </a:ext>
            </a:extLst>
          </p:cNvPr>
          <p:cNvSpPr txBox="1"/>
          <p:nvPr/>
        </p:nvSpPr>
        <p:spPr>
          <a:xfrm>
            <a:off x="1055688" y="4226225"/>
            <a:ext cx="6636584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 err="1"/>
              <a:t>Tulo</a:t>
            </a:r>
            <a:r>
              <a:rPr lang="en-GB" sz="1100" dirty="0"/>
              <a:t>- </a:t>
            </a:r>
            <a:r>
              <a:rPr lang="en-GB" sz="1100" dirty="0" err="1"/>
              <a:t>ja</a:t>
            </a:r>
            <a:r>
              <a:rPr lang="en-GB" sz="1100" dirty="0"/>
              <a:t> </a:t>
            </a:r>
            <a:r>
              <a:rPr lang="en-GB" sz="1100" dirty="0" err="1"/>
              <a:t>lähtömuutto</a:t>
            </a:r>
            <a:r>
              <a:rPr lang="en-GB" sz="1100" dirty="0"/>
              <a:t> </a:t>
            </a:r>
            <a:r>
              <a:rPr lang="en-GB" sz="1100" dirty="0" err="1"/>
              <a:t>keskiarvo</a:t>
            </a:r>
            <a:r>
              <a:rPr lang="en-GB" sz="1100" dirty="0"/>
              <a:t> x-</a:t>
            </a:r>
            <a:r>
              <a:rPr lang="en-GB" sz="1100" dirty="0" err="1"/>
              <a:t>vuotta</a:t>
            </a:r>
            <a:r>
              <a:rPr lang="en-GB" sz="1100" dirty="0"/>
              <a:t>. </a:t>
            </a:r>
            <a:r>
              <a:rPr lang="en-GB" sz="1100" dirty="0" err="1"/>
              <a:t>Esimerkissä</a:t>
            </a:r>
            <a:r>
              <a:rPr lang="en-GB" sz="1100" dirty="0"/>
              <a:t> </a:t>
            </a:r>
            <a:r>
              <a:rPr lang="en-GB" sz="1100" dirty="0" err="1"/>
              <a:t>kolme</a:t>
            </a:r>
            <a:r>
              <a:rPr lang="en-GB" sz="1100" dirty="0"/>
              <a:t> </a:t>
            </a:r>
            <a:r>
              <a:rPr lang="en-GB" sz="1100" dirty="0" err="1"/>
              <a:t>vuotta</a:t>
            </a:r>
            <a:endParaRPr lang="en-GB" sz="1100" dirty="0"/>
          </a:p>
          <a:p>
            <a:endParaRPr lang="en-GB" sz="1100" dirty="0"/>
          </a:p>
          <a:p>
            <a:endParaRPr lang="en-FI" sz="1100" dirty="0"/>
          </a:p>
          <a:p>
            <a:r>
              <a:rPr lang="fi-FI" sz="1100" dirty="0"/>
              <a:t>• </a:t>
            </a:r>
            <a:r>
              <a:rPr lang="fi-FI" sz="1100" dirty="0" err="1"/>
              <a:t>hedero</a:t>
            </a:r>
            <a:r>
              <a:rPr lang="fi-FI" sz="1100" dirty="0"/>
              <a:t> = alueen kokonaishedelmällisyyden ero (%) hedelmällisyysryhmän tasoon verrattuna; luvun perusteella lasketaan korjauskerroin, jolla korjataan alueen kaikkien ikäryhmien hedelmällisyyslukua</a:t>
            </a:r>
          </a:p>
          <a:p>
            <a:endParaRPr lang="fi-FI" sz="900" dirty="0"/>
          </a:p>
          <a:p>
            <a:endParaRPr lang="en-FI" sz="1200" dirty="0"/>
          </a:p>
          <a:p>
            <a:r>
              <a:rPr lang="fi-FI" sz="1200" dirty="0"/>
              <a:t>• min0_4 = 0-4-vuotiaiden väestöosuuden (%) minimi kaikkina ennustevuosina </a:t>
            </a:r>
          </a:p>
          <a:p>
            <a:r>
              <a:rPr lang="fi-FI" sz="1200" dirty="0"/>
              <a:t>• max0_4 = 0-4-vuotiaiden väestöosuuden (%) maksimi kaikkina ennustevuosina </a:t>
            </a:r>
          </a:p>
          <a:p>
            <a:r>
              <a:rPr lang="fi-FI" sz="1200" dirty="0"/>
              <a:t>• Muiden ikäryhmien (25-29-v. asti) vastaavat minimit ja maksimit </a:t>
            </a:r>
          </a:p>
          <a:p>
            <a:endParaRPr lang="fi-FI" sz="1100" dirty="0"/>
          </a:p>
          <a:p>
            <a:endParaRPr lang="en-FI" sz="1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36C829-EEB1-B8F0-F7A2-2A7F8F33360E}"/>
              </a:ext>
            </a:extLst>
          </p:cNvPr>
          <p:cNvSpPr/>
          <p:nvPr/>
        </p:nvSpPr>
        <p:spPr>
          <a:xfrm>
            <a:off x="7516420" y="133215"/>
            <a:ext cx="732034" cy="3998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VK</a:t>
            </a:r>
            <a:endParaRPr lang="en-FI" sz="28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6BF7-44ED-9E05-6EC2-B9807A274446}"/>
              </a:ext>
            </a:extLst>
          </p:cNvPr>
          <p:cNvSpPr txBox="1"/>
          <p:nvPr/>
        </p:nvSpPr>
        <p:spPr>
          <a:xfrm>
            <a:off x="9903876" y="0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– </a:t>
            </a:r>
            <a:r>
              <a:rPr lang="en-GB" sz="1400" dirty="0" err="1"/>
              <a:t>Vanha</a:t>
            </a:r>
            <a:r>
              <a:rPr lang="en-GB" sz="1400" dirty="0"/>
              <a:t> </a:t>
            </a:r>
            <a:r>
              <a:rPr lang="en-GB" sz="1400" dirty="0" err="1"/>
              <a:t>rakennuskanta</a:t>
            </a:r>
            <a:endParaRPr lang="en-GB" sz="1400" dirty="0"/>
          </a:p>
          <a:p>
            <a:r>
              <a:rPr lang="en-GB" sz="1400" dirty="0"/>
              <a:t>– Uusi </a:t>
            </a:r>
            <a:r>
              <a:rPr lang="en-GB" sz="1400" dirty="0" err="1"/>
              <a:t>rakennustuotanto</a:t>
            </a:r>
            <a:endParaRPr lang="en-GB" sz="1400" dirty="0"/>
          </a:p>
          <a:p>
            <a:r>
              <a:rPr lang="en-GB" sz="1400" dirty="0"/>
              <a:t>– </a:t>
            </a:r>
            <a:r>
              <a:rPr lang="en-GB" sz="1400" dirty="0" err="1"/>
              <a:t>Aluetason</a:t>
            </a:r>
            <a:r>
              <a:rPr lang="en-GB" sz="1400" dirty="0"/>
              <a:t> </a:t>
            </a:r>
            <a:r>
              <a:rPr lang="en-GB" sz="1400" dirty="0" err="1"/>
              <a:t>ennuste</a:t>
            </a:r>
            <a:endParaRPr lang="en-FI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400522-3309-D59B-9AEE-9B9EA640892D}"/>
              </a:ext>
            </a:extLst>
          </p:cNvPr>
          <p:cNvSpPr/>
          <p:nvPr/>
        </p:nvSpPr>
        <p:spPr>
          <a:xfrm>
            <a:off x="9506293" y="67801"/>
            <a:ext cx="433747" cy="1523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VK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3B9046-1430-87F7-C119-2698BFDCEFCD}"/>
              </a:ext>
            </a:extLst>
          </p:cNvPr>
          <p:cNvSpPr/>
          <p:nvPr/>
        </p:nvSpPr>
        <p:spPr>
          <a:xfrm>
            <a:off x="9506292" y="302119"/>
            <a:ext cx="433747" cy="152335"/>
          </a:xfrm>
          <a:prstGeom prst="roundRect">
            <a:avLst/>
          </a:prstGeom>
          <a:solidFill>
            <a:srgbClr val="92D050"/>
          </a:solidFill>
          <a:ln>
            <a:solidFill>
              <a:srgbClr val="009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UT</a:t>
            </a:r>
            <a:endParaRPr lang="en-FI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C05059-6542-7CA6-A426-CA26415EE7C1}"/>
              </a:ext>
            </a:extLst>
          </p:cNvPr>
          <p:cNvSpPr/>
          <p:nvPr/>
        </p:nvSpPr>
        <p:spPr>
          <a:xfrm>
            <a:off x="9506291" y="520250"/>
            <a:ext cx="433747" cy="162217"/>
          </a:xfrm>
          <a:prstGeom prst="roundRect">
            <a:avLst/>
          </a:prstGeom>
          <a:solidFill>
            <a:srgbClr val="B381D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</a:t>
            </a:r>
            <a:endParaRPr lang="en-FI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89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angasala - värit">
      <a:dk1>
        <a:srgbClr val="000000"/>
      </a:dk1>
      <a:lt1>
        <a:srgbClr val="FFFFFF"/>
      </a:lt1>
      <a:dk2>
        <a:srgbClr val="E01F27"/>
      </a:dk2>
      <a:lt2>
        <a:srgbClr val="ECECED"/>
      </a:lt2>
      <a:accent1>
        <a:srgbClr val="2C3B83"/>
      </a:accent1>
      <a:accent2>
        <a:srgbClr val="E64924"/>
      </a:accent2>
      <a:accent3>
        <a:srgbClr val="A5A5A5"/>
      </a:accent3>
      <a:accent4>
        <a:srgbClr val="FCB316"/>
      </a:accent4>
      <a:accent5>
        <a:srgbClr val="2C3B83"/>
      </a:accent5>
      <a:accent6>
        <a:srgbClr val="00ADC5"/>
      </a:accent6>
      <a:hlink>
        <a:srgbClr val="2C3B83"/>
      </a:hlink>
      <a:folHlink>
        <a:srgbClr val="2C3B83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angasala_template_laajakuva" id="{A388CC6D-70E6-45B0-A29F-5DB9D3829FE1}" vid="{2211852E-9B1E-44C4-BD1E-A31B55BF0E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394785F834836419B2687D6B75428D1" ma:contentTypeVersion="3" ma:contentTypeDescription="Luo uusi asiakirja." ma:contentTypeScope="" ma:versionID="f9a7af9931d0898db860f6fbefdd550e">
  <xsd:schema xmlns:xsd="http://www.w3.org/2001/XMLSchema" xmlns:xs="http://www.w3.org/2001/XMLSchema" xmlns:p="http://schemas.microsoft.com/office/2006/metadata/properties" xmlns:ns2="98e43647-daed-4728-a416-22d4e73a97ee" targetNamespace="http://schemas.microsoft.com/office/2006/metadata/properties" ma:root="true" ma:fieldsID="cf24e066b82822504a11d2dc35c4121c" ns2:_="">
    <xsd:import namespace="98e43647-daed-4728-a416-22d4e73a97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43647-daed-4728-a416-22d4e73a97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DA64D7-4AC8-4E21-8252-360C90D76E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E74A99-68ED-4A03-A8E9-54AF1B6E10E4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98e43647-daed-4728-a416-22d4e73a97ee"/>
  </ds:schemaRefs>
</ds:datastoreItem>
</file>

<file path=customXml/itemProps3.xml><?xml version="1.0" encoding="utf-8"?>
<ds:datastoreItem xmlns:ds="http://schemas.openxmlformats.org/officeDocument/2006/customXml" ds:itemID="{71D3C8C6-D946-45C7-BA67-F9FA139707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43647-daed-4728-a416-22d4e73a97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PowerPoint-pohja_Saavutettava</Template>
  <TotalTime>1889</TotalTime>
  <Words>2184</Words>
  <Application>Microsoft Office PowerPoint</Application>
  <PresentationFormat>Widescreen</PresentationFormat>
  <Paragraphs>1302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Narrow</vt:lpstr>
      <vt:lpstr>Arial</vt:lpstr>
      <vt:lpstr>Calibri</vt:lpstr>
      <vt:lpstr>Century Gothic</vt:lpstr>
      <vt:lpstr>Office Theme</vt:lpstr>
      <vt:lpstr>Väestöennusteet–  kunta- ja aluetaso ohjeita  Huom. luvut ovat esimerkkilukuja   18.11.2025</vt:lpstr>
      <vt:lpstr>Excel-tiedostot ja yhteiset kentät</vt:lpstr>
      <vt:lpstr>Alueittainen_asuntotuotanto.xlsx (Koodi: UTENN.ipynb – uustuotanto)</vt:lpstr>
      <vt:lpstr>Hedelmällisyys_2025.xlsx (Koodi: UTENN.ipynb – uustuotanto)</vt:lpstr>
      <vt:lpstr>Hedelmällisyys_2025_seutu.xlsx (Koodi: 3_SEUDUNENN.ipynb)</vt:lpstr>
      <vt:lpstr>Kuolemanvaara_2025.xlsx (Koodi: UTENN.ipynb – uustuotanto)</vt:lpstr>
      <vt:lpstr>Jäljellejäämiskerroin.xlsx (Koodi: UTENN.ipynb – uustuotanto)</vt:lpstr>
      <vt:lpstr>Asuntotuotanto_parametrit.xlsx (Koodi: UTENN.ipynb – uustuotanto)</vt:lpstr>
      <vt:lpstr>Ikäjakauma_rakennus.xlsx (Koodi: UTENN.ipynb – uustuotanto)</vt:lpstr>
      <vt:lpstr>Vanhakanta_muutto.xlsx (Koodi: VKENN.ipynb – vanha kanta)</vt:lpstr>
      <vt:lpstr>Vaesto_osa-alueittain_2025.xlsx (Koodi: VKENN.ipynb – vanha kanta) (Koodi: SEUDUNENN.ipynb – alue- seututason ennuste)</vt:lpstr>
      <vt:lpstr>Vanha_rakennuskanta_parametrit.xlsx  (Koodi: VKENN.ipynb – vanha kanta)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Heinisuo Juuso</dc:creator>
  <cp:keywords>Saavutettava asiakirjapohja</cp:keywords>
  <cp:lastModifiedBy>Heinisuo Juuso</cp:lastModifiedBy>
  <cp:revision>48</cp:revision>
  <dcterms:created xsi:type="dcterms:W3CDTF">2025-08-06T10:24:44Z</dcterms:created>
  <dcterms:modified xsi:type="dcterms:W3CDTF">2026-05-21T05:18:38Z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0x010100B394785F834836419B2687D6B75428D1</vt:lpwstr>
  </property>
</Properties>
</file>